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5" r:id="rId14"/>
    <p:sldId id="268" r:id="rId15"/>
    <p:sldId id="269" r:id="rId16"/>
    <p:sldId id="270" r:id="rId17"/>
    <p:sldId id="271" r:id="rId18"/>
    <p:sldId id="272" r:id="rId19"/>
    <p:sldId id="274" r:id="rId20"/>
    <p:sldId id="273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00" autoAdjust="0"/>
    <p:restoredTop sz="94610"/>
  </p:normalViewPr>
  <p:slideViewPr>
    <p:cSldViewPr snapToGrid="0" snapToObjects="1">
      <p:cViewPr>
        <p:scale>
          <a:sx n="98" d="100"/>
          <a:sy n="98" d="100"/>
        </p:scale>
        <p:origin x="72" y="3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550097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sleek_high_resolution_futuristic_medical_tech_batch_1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6583680" cy="6858000"/>
          </a:xfrm>
          <a:prstGeom prst="rect">
            <a:avLst/>
          </a:prstGeom>
          <a:solidFill>
            <a:srgbClr val="020B12">
              <a:alpha val="88000"/>
            </a:srgbClr>
          </a:solidFill>
          <a:ln w="12700">
            <a:solidFill>
              <a:srgbClr val="020B12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530352" y="502920"/>
            <a:ext cx="73152" cy="4572000"/>
          </a:xfrm>
          <a:prstGeom prst="rect">
            <a:avLst/>
          </a:prstGeom>
          <a:solidFill>
            <a:srgbClr val="B7D0DC"/>
          </a:solidFill>
          <a:ln w="12700">
            <a:solidFill>
              <a:srgbClr val="B7D0DC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68096" y="566928"/>
            <a:ext cx="5715000" cy="1600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Hybrid CNN-Transformer Networks with Clinical Metadata for Skin Lesion Classification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786384" y="2331720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9D7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Thesis Group ID: </a:t>
            </a:r>
            <a:r>
              <a:rPr lang="en-US" sz="1500">
                <a:solidFill>
                  <a:srgbClr val="C9D7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T2510619 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768096" y="2907792"/>
            <a:ext cx="5257800" cy="0"/>
          </a:xfrm>
          <a:prstGeom prst="line">
            <a:avLst/>
          </a:prstGeom>
          <a:noFill/>
          <a:ln w="15240">
            <a:solidFill>
              <a:srgbClr val="B7D0DC">
                <a:alpha val="85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86384" y="31546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Presented By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86384" y="3520440"/>
            <a:ext cx="3200400" cy="1645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E7EE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Nazif Bin Morshed  |  21201484</a:t>
            </a:r>
            <a:endParaRPr lang="en-US" sz="1270" dirty="0"/>
          </a:p>
          <a:p>
            <a:pPr marL="0" indent="0">
              <a:buNone/>
            </a:pPr>
            <a:r>
              <a:rPr lang="en-US" sz="1270" dirty="0">
                <a:solidFill>
                  <a:srgbClr val="E7EE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Md. Samin Yaser  |  21201033</a:t>
            </a:r>
            <a:endParaRPr lang="en-US" sz="1270" dirty="0"/>
          </a:p>
          <a:p>
            <a:pPr marL="0" indent="0">
              <a:buNone/>
            </a:pPr>
            <a:r>
              <a:rPr lang="en-US" sz="1270" dirty="0">
                <a:solidFill>
                  <a:srgbClr val="E7EE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Sayem Afridi  |  21301044</a:t>
            </a:r>
            <a:endParaRPr lang="en-US" sz="1270" dirty="0"/>
          </a:p>
          <a:p>
            <a:pPr marL="0" indent="0">
              <a:buNone/>
            </a:pPr>
            <a:r>
              <a:rPr lang="en-US" sz="1270" dirty="0">
                <a:solidFill>
                  <a:srgbClr val="E7EE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Mos. Mahabuba Akter Munia  |  24241110</a:t>
            </a:r>
            <a:endParaRPr lang="en-US" sz="1270" dirty="0"/>
          </a:p>
          <a:p>
            <a:r>
              <a:rPr lang="en-US" sz="1270" dirty="0" err="1">
                <a:solidFill>
                  <a:srgbClr val="E7EE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Nazmus</a:t>
            </a:r>
            <a:r>
              <a:rPr lang="en-US" sz="1270" dirty="0">
                <a:solidFill>
                  <a:srgbClr val="E7EE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Shakib  |  </a:t>
            </a:r>
            <a:r>
              <a:rPr lang="en-US" sz="1400" dirty="0">
                <a:solidFill>
                  <a:schemeClr val="bg1"/>
                </a:solidFill>
              </a:rPr>
              <a:t>21201667</a:t>
            </a:r>
            <a:endParaRPr lang="en-US" sz="1270" dirty="0">
              <a:solidFill>
                <a:schemeClr val="bg1"/>
              </a:solidFill>
            </a:endParaRPr>
          </a:p>
        </p:txBody>
      </p:sp>
      <p:sp>
        <p:nvSpPr>
          <p:cNvPr id="10" name="Text 7"/>
          <p:cNvSpPr/>
          <p:nvPr/>
        </p:nvSpPr>
        <p:spPr>
          <a:xfrm>
            <a:off x="4343400" y="31546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Supervisor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343400" y="3520440"/>
            <a:ext cx="1828800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E7EE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Dr. Md. Ashraful Alam</a:t>
            </a: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E7EE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Associate Professor</a:t>
            </a: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E7EE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Department of CSE</a:t>
            </a:r>
            <a:endParaRPr lang="en-US" sz="1230" dirty="0"/>
          </a:p>
        </p:txBody>
      </p:sp>
      <p:sp>
        <p:nvSpPr>
          <p:cNvPr id="12" name="Text 9"/>
          <p:cNvSpPr/>
          <p:nvPr/>
        </p:nvSpPr>
        <p:spPr>
          <a:xfrm>
            <a:off x="786384" y="59893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7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Department of Computer Science and Engineering, Brac University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>
                <a:alpha val="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0" y="6364224"/>
            <a:ext cx="5074920" cy="384048"/>
          </a:xfrm>
          <a:prstGeom prst="parallelogram">
            <a:avLst/>
          </a:prstGeom>
          <a:solidFill>
            <a:srgbClr val="B7D0DC"/>
          </a:solidFill>
          <a:ln w="12700">
            <a:solidFill>
              <a:srgbClr val="B7D0DC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1722608" y="651967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43800" y="45720"/>
            <a:ext cx="1097280" cy="36576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41080" y="411480"/>
            <a:ext cx="1143000" cy="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784080" y="91440"/>
            <a:ext cx="1051560" cy="54864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35640" y="640080"/>
            <a:ext cx="1005840" cy="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41080" y="411480"/>
            <a:ext cx="0" cy="82296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183880" y="1234440"/>
            <a:ext cx="1097280" cy="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281160" y="1005840"/>
            <a:ext cx="1005840" cy="50292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287000" y="1508760"/>
            <a:ext cx="1188720" cy="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183880" y="1234440"/>
            <a:ext cx="594360" cy="91440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778240" y="2148840"/>
            <a:ext cx="1051560" cy="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829800" y="1874520"/>
            <a:ext cx="1234440" cy="45720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281160" y="1005840"/>
            <a:ext cx="548640" cy="86868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835640" y="640080"/>
            <a:ext cx="640080" cy="50292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475720" y="1143000"/>
            <a:ext cx="0" cy="118872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784080" y="91440"/>
            <a:ext cx="0" cy="91440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507224" y="9144"/>
            <a:ext cx="73152" cy="73152"/>
          </a:xfrm>
          <a:prstGeom prst="ellipse">
            <a:avLst/>
          </a:prstGeom>
          <a:solidFill>
            <a:srgbClr val="D7DDE2">
              <a:alpha val="80000"/>
            </a:srgbClr>
          </a:solidFill>
          <a:ln w="12700">
            <a:solidFill>
              <a:srgbClr val="D7DDE2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604504" y="374904"/>
            <a:ext cx="73152" cy="73152"/>
          </a:xfrm>
          <a:prstGeom prst="ellipse">
            <a:avLst/>
          </a:prstGeom>
          <a:solidFill>
            <a:srgbClr val="D7DDE2">
              <a:alpha val="80000"/>
            </a:srgbClr>
          </a:solidFill>
          <a:ln w="12700">
            <a:solidFill>
              <a:srgbClr val="D7DDE2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747504" y="54864"/>
            <a:ext cx="73152" cy="73152"/>
          </a:xfrm>
          <a:prstGeom prst="ellipse">
            <a:avLst/>
          </a:prstGeom>
          <a:solidFill>
            <a:srgbClr val="D7DDE2">
              <a:alpha val="80000"/>
            </a:srgbClr>
          </a:solidFill>
          <a:ln w="12700">
            <a:solidFill>
              <a:srgbClr val="D7DDE2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799064" y="603504"/>
            <a:ext cx="73152" cy="73152"/>
          </a:xfrm>
          <a:prstGeom prst="ellipse">
            <a:avLst/>
          </a:prstGeom>
          <a:solidFill>
            <a:srgbClr val="D7DDE2">
              <a:alpha val="80000"/>
            </a:srgbClr>
          </a:solidFill>
          <a:ln w="12700">
            <a:solidFill>
              <a:srgbClr val="D7DDE2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804904" y="146304"/>
            <a:ext cx="73152" cy="73152"/>
          </a:xfrm>
          <a:prstGeom prst="ellipse">
            <a:avLst/>
          </a:prstGeom>
          <a:solidFill>
            <a:srgbClr val="D7DDE2">
              <a:alpha val="80000"/>
            </a:srgbClr>
          </a:solidFill>
          <a:ln w="12700">
            <a:solidFill>
              <a:srgbClr val="D7DDE2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147304" y="1197864"/>
            <a:ext cx="73152" cy="73152"/>
          </a:xfrm>
          <a:prstGeom prst="ellipse">
            <a:avLst/>
          </a:prstGeom>
          <a:solidFill>
            <a:srgbClr val="D7DDE2">
              <a:alpha val="80000"/>
            </a:srgbClr>
          </a:solidFill>
          <a:ln w="12700">
            <a:solidFill>
              <a:srgbClr val="D7DDE2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244584" y="969264"/>
            <a:ext cx="73152" cy="73152"/>
          </a:xfrm>
          <a:prstGeom prst="ellipse">
            <a:avLst/>
          </a:prstGeom>
          <a:solidFill>
            <a:srgbClr val="D7DDE2">
              <a:alpha val="80000"/>
            </a:srgbClr>
          </a:solidFill>
          <a:ln w="12700">
            <a:solidFill>
              <a:srgbClr val="D7DDE2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250424" y="1472184"/>
            <a:ext cx="73152" cy="73152"/>
          </a:xfrm>
          <a:prstGeom prst="ellipse">
            <a:avLst/>
          </a:prstGeom>
          <a:solidFill>
            <a:srgbClr val="D7DDE2">
              <a:alpha val="80000"/>
            </a:srgbClr>
          </a:solidFill>
          <a:ln w="12700">
            <a:solidFill>
              <a:srgbClr val="D7DDE2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439144" y="1106424"/>
            <a:ext cx="73152" cy="73152"/>
          </a:xfrm>
          <a:prstGeom prst="ellipse">
            <a:avLst/>
          </a:prstGeom>
          <a:solidFill>
            <a:srgbClr val="D7DDE2">
              <a:alpha val="80000"/>
            </a:srgbClr>
          </a:solidFill>
          <a:ln w="12700">
            <a:solidFill>
              <a:srgbClr val="D7DDE2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741664" y="2112264"/>
            <a:ext cx="73152" cy="73152"/>
          </a:xfrm>
          <a:prstGeom prst="ellipse">
            <a:avLst/>
          </a:prstGeom>
          <a:solidFill>
            <a:srgbClr val="D7DDE2">
              <a:alpha val="80000"/>
            </a:srgbClr>
          </a:solidFill>
          <a:ln w="12700">
            <a:solidFill>
              <a:srgbClr val="D7DDE2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793224" y="1837944"/>
            <a:ext cx="73152" cy="73152"/>
          </a:xfrm>
          <a:prstGeom prst="ellipse">
            <a:avLst/>
          </a:prstGeom>
          <a:solidFill>
            <a:srgbClr val="D7DDE2">
              <a:alpha val="80000"/>
            </a:srgbClr>
          </a:solidFill>
          <a:ln w="12700">
            <a:solidFill>
              <a:srgbClr val="D7DDE2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027664" y="2295144"/>
            <a:ext cx="73152" cy="73152"/>
          </a:xfrm>
          <a:prstGeom prst="ellipse">
            <a:avLst/>
          </a:prstGeom>
          <a:solidFill>
            <a:srgbClr val="D7DDE2">
              <a:alpha val="80000"/>
            </a:srgbClr>
          </a:solidFill>
          <a:ln w="12700">
            <a:solidFill>
              <a:srgbClr val="D7DDE2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" y="384048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Table of Content</a:t>
            </a:r>
            <a:endParaRPr lang="en-US" sz="2800" dirty="0"/>
          </a:p>
        </p:txBody>
      </p:sp>
      <p:sp>
        <p:nvSpPr>
          <p:cNvPr id="30" name="Shape 28"/>
          <p:cNvSpPr/>
          <p:nvPr/>
        </p:nvSpPr>
        <p:spPr>
          <a:xfrm>
            <a:off x="594360" y="1133856"/>
            <a:ext cx="10835640" cy="0"/>
          </a:xfrm>
          <a:prstGeom prst="line">
            <a:avLst/>
          </a:prstGeom>
          <a:noFill/>
          <a:ln w="15240">
            <a:solidFill>
              <a:srgbClr val="1E1E1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6364224"/>
            <a:ext cx="5074920" cy="384048"/>
          </a:xfrm>
          <a:prstGeom prst="parallelogram">
            <a:avLst/>
          </a:prstGeom>
          <a:solidFill>
            <a:srgbClr val="B7D0DC"/>
          </a:solidFill>
          <a:ln w="12700">
            <a:solidFill>
              <a:srgbClr val="B7D0DC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1722608" y="651967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1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0" y="1417320"/>
          <a:ext cx="8412480" cy="4389119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80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2701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#</a:t>
                      </a:r>
                      <a:endParaRPr lang="en-US" sz="16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Section</a:t>
                      </a:r>
                      <a:endParaRPr lang="en-US" sz="16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Motivation, problem statement and objectives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ISIC-2019 dataset, preprocessing and constraints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Proposed lightweight hybrid and DEKAN architectures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Training protocol, evaluation metrics and baselines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Results, efficiency analysis and ablation findings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Limitations, contributions and future work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43800" y="45720"/>
            <a:ext cx="1097280" cy="36576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41080" y="411480"/>
            <a:ext cx="1143000" cy="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784080" y="91440"/>
            <a:ext cx="1051560" cy="54864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35640" y="640080"/>
            <a:ext cx="1005840" cy="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41080" y="411480"/>
            <a:ext cx="0" cy="82296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183880" y="1234440"/>
            <a:ext cx="1097280" cy="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281160" y="1005840"/>
            <a:ext cx="1005840" cy="50292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287000" y="1508760"/>
            <a:ext cx="1188720" cy="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183880" y="1234440"/>
            <a:ext cx="594360" cy="91440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778240" y="2148840"/>
            <a:ext cx="1051560" cy="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829800" y="1874520"/>
            <a:ext cx="1234440" cy="45720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281160" y="1005840"/>
            <a:ext cx="548640" cy="86868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835640" y="640080"/>
            <a:ext cx="640080" cy="50292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475720" y="1143000"/>
            <a:ext cx="0" cy="118872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784080" y="91440"/>
            <a:ext cx="0" cy="91440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507224" y="9144"/>
            <a:ext cx="73152" cy="73152"/>
          </a:xfrm>
          <a:prstGeom prst="ellipse">
            <a:avLst/>
          </a:prstGeom>
          <a:solidFill>
            <a:srgbClr val="D7DDE2">
              <a:alpha val="80000"/>
            </a:srgbClr>
          </a:solidFill>
          <a:ln w="12700">
            <a:solidFill>
              <a:srgbClr val="D7DDE2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604504" y="374904"/>
            <a:ext cx="73152" cy="73152"/>
          </a:xfrm>
          <a:prstGeom prst="ellipse">
            <a:avLst/>
          </a:prstGeom>
          <a:solidFill>
            <a:srgbClr val="D7DDE2">
              <a:alpha val="80000"/>
            </a:srgbClr>
          </a:solidFill>
          <a:ln w="12700">
            <a:solidFill>
              <a:srgbClr val="D7DDE2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747504" y="54864"/>
            <a:ext cx="73152" cy="73152"/>
          </a:xfrm>
          <a:prstGeom prst="ellipse">
            <a:avLst/>
          </a:prstGeom>
          <a:solidFill>
            <a:srgbClr val="D7DDE2">
              <a:alpha val="80000"/>
            </a:srgbClr>
          </a:solidFill>
          <a:ln w="12700">
            <a:solidFill>
              <a:srgbClr val="D7DDE2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799064" y="603504"/>
            <a:ext cx="73152" cy="73152"/>
          </a:xfrm>
          <a:prstGeom prst="ellipse">
            <a:avLst/>
          </a:prstGeom>
          <a:solidFill>
            <a:srgbClr val="D7DDE2">
              <a:alpha val="80000"/>
            </a:srgbClr>
          </a:solidFill>
          <a:ln w="12700">
            <a:solidFill>
              <a:srgbClr val="D7DDE2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804904" y="146304"/>
            <a:ext cx="73152" cy="73152"/>
          </a:xfrm>
          <a:prstGeom prst="ellipse">
            <a:avLst/>
          </a:prstGeom>
          <a:solidFill>
            <a:srgbClr val="D7DDE2">
              <a:alpha val="80000"/>
            </a:srgbClr>
          </a:solidFill>
          <a:ln w="12700">
            <a:solidFill>
              <a:srgbClr val="D7DDE2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147304" y="1197864"/>
            <a:ext cx="73152" cy="73152"/>
          </a:xfrm>
          <a:prstGeom prst="ellipse">
            <a:avLst/>
          </a:prstGeom>
          <a:solidFill>
            <a:srgbClr val="D7DDE2">
              <a:alpha val="80000"/>
            </a:srgbClr>
          </a:solidFill>
          <a:ln w="12700">
            <a:solidFill>
              <a:srgbClr val="D7DDE2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244584" y="969264"/>
            <a:ext cx="73152" cy="73152"/>
          </a:xfrm>
          <a:prstGeom prst="ellipse">
            <a:avLst/>
          </a:prstGeom>
          <a:solidFill>
            <a:srgbClr val="D7DDE2">
              <a:alpha val="80000"/>
            </a:srgbClr>
          </a:solidFill>
          <a:ln w="12700">
            <a:solidFill>
              <a:srgbClr val="D7DDE2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250424" y="1472184"/>
            <a:ext cx="73152" cy="73152"/>
          </a:xfrm>
          <a:prstGeom prst="ellipse">
            <a:avLst/>
          </a:prstGeom>
          <a:solidFill>
            <a:srgbClr val="D7DDE2">
              <a:alpha val="80000"/>
            </a:srgbClr>
          </a:solidFill>
          <a:ln w="12700">
            <a:solidFill>
              <a:srgbClr val="D7DDE2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439144" y="1106424"/>
            <a:ext cx="73152" cy="73152"/>
          </a:xfrm>
          <a:prstGeom prst="ellipse">
            <a:avLst/>
          </a:prstGeom>
          <a:solidFill>
            <a:srgbClr val="D7DDE2">
              <a:alpha val="80000"/>
            </a:srgbClr>
          </a:solidFill>
          <a:ln w="12700">
            <a:solidFill>
              <a:srgbClr val="D7DDE2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741664" y="2112264"/>
            <a:ext cx="73152" cy="73152"/>
          </a:xfrm>
          <a:prstGeom prst="ellipse">
            <a:avLst/>
          </a:prstGeom>
          <a:solidFill>
            <a:srgbClr val="D7DDE2">
              <a:alpha val="80000"/>
            </a:srgbClr>
          </a:solidFill>
          <a:ln w="12700">
            <a:solidFill>
              <a:srgbClr val="D7DDE2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793224" y="1837944"/>
            <a:ext cx="73152" cy="73152"/>
          </a:xfrm>
          <a:prstGeom prst="ellipse">
            <a:avLst/>
          </a:prstGeom>
          <a:solidFill>
            <a:srgbClr val="D7DDE2">
              <a:alpha val="80000"/>
            </a:srgbClr>
          </a:solidFill>
          <a:ln w="12700">
            <a:solidFill>
              <a:srgbClr val="D7DDE2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027664" y="2295144"/>
            <a:ext cx="73152" cy="73152"/>
          </a:xfrm>
          <a:prstGeom prst="ellipse">
            <a:avLst/>
          </a:prstGeom>
          <a:solidFill>
            <a:srgbClr val="D7DDE2">
              <a:alpha val="80000"/>
            </a:srgbClr>
          </a:solidFill>
          <a:ln w="12700">
            <a:solidFill>
              <a:srgbClr val="D7DDE2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" y="384048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Background and Motivation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621792" y="89611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E6A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automated dermoscopy support matters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94360" y="1133856"/>
            <a:ext cx="10835640" cy="0"/>
          </a:xfrm>
          <a:prstGeom prst="line">
            <a:avLst/>
          </a:prstGeom>
          <a:noFill/>
          <a:ln w="15240">
            <a:solidFill>
              <a:srgbClr val="1E1E1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6364224"/>
            <a:ext cx="5074920" cy="384048"/>
          </a:xfrm>
          <a:prstGeom prst="parallelogram">
            <a:avLst/>
          </a:prstGeom>
          <a:solidFill>
            <a:srgbClr val="B7D0DC"/>
          </a:solidFill>
          <a:ln w="12700">
            <a:solidFill>
              <a:srgbClr val="B7D0DC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1722608" y="651967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77240" y="1600200"/>
            <a:ext cx="5303520" cy="3291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80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Skin cancer outcome depends strongly on early lesion detection.</a:t>
            </a:r>
            <a:endParaRPr lang="en-US" sz="1800" dirty="0"/>
          </a:p>
          <a:p>
            <a:pPr marL="127000" indent="-127000">
              <a:buSzPct val="100000"/>
              <a:buChar char="•"/>
            </a:pPr>
            <a:r>
              <a:rPr lang="en-US" sz="180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Dermoscopy reveals sub-surface lesion structure but needs specialist interpretation.</a:t>
            </a:r>
            <a:endParaRPr lang="en-US" sz="1800" dirty="0"/>
          </a:p>
          <a:p>
            <a:pPr marL="127000" indent="-127000">
              <a:buSzPct val="100000"/>
              <a:buChar char="•"/>
            </a:pPr>
            <a:r>
              <a:rPr lang="en-US" sz="180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CNNs capture local texture; transformers model global shape and asymmetry.</a:t>
            </a:r>
            <a:endParaRPr lang="en-US" sz="1800" dirty="0"/>
          </a:p>
          <a:p>
            <a:pPr marL="127000" indent="-127000">
              <a:buSzPct val="100000"/>
              <a:buChar char="•"/>
            </a:pPr>
            <a:r>
              <a:rPr lang="en-US" sz="180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Clinical context such as age, sex and lesion site is available but often ignored.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6629400" y="1508760"/>
            <a:ext cx="1417320" cy="841248"/>
          </a:xfrm>
          <a:prstGeom prst="roundRect">
            <a:avLst>
              <a:gd name="adj" fmla="val 8696"/>
            </a:avLst>
          </a:prstGeom>
          <a:solidFill>
            <a:srgbClr val="F4F8FA"/>
          </a:solidFill>
          <a:ln w="12700">
            <a:solidFill>
              <a:srgbClr val="B7D0D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702552" y="1618488"/>
            <a:ext cx="1271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BA4A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Local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6702552" y="2075688"/>
            <a:ext cx="1271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E6A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CNN texture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8458200" y="1508760"/>
            <a:ext cx="1600200" cy="841248"/>
          </a:xfrm>
          <a:prstGeom prst="roundRect">
            <a:avLst>
              <a:gd name="adj" fmla="val 8696"/>
            </a:avLst>
          </a:prstGeom>
          <a:solidFill>
            <a:srgbClr val="F4F8FA"/>
          </a:solidFill>
          <a:ln w="12700">
            <a:solidFill>
              <a:srgbClr val="B7D0D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531352" y="1618488"/>
            <a:ext cx="1453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367C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Global</a:t>
            </a:r>
            <a:endParaRPr lang="en-US" sz="2000" dirty="0"/>
          </a:p>
        </p:txBody>
      </p:sp>
      <p:sp>
        <p:nvSpPr>
          <p:cNvPr id="41" name="Text 39"/>
          <p:cNvSpPr/>
          <p:nvPr/>
        </p:nvSpPr>
        <p:spPr>
          <a:xfrm>
            <a:off x="8531352" y="2075688"/>
            <a:ext cx="1453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E6A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Transformer structure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10287000" y="1508760"/>
            <a:ext cx="1508760" cy="841248"/>
          </a:xfrm>
          <a:prstGeom prst="roundRect">
            <a:avLst>
              <a:gd name="adj" fmla="val 8696"/>
            </a:avLst>
          </a:prstGeom>
          <a:solidFill>
            <a:srgbClr val="F4F8FA"/>
          </a:solidFill>
          <a:ln w="12700">
            <a:solidFill>
              <a:srgbClr val="B7D0D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0360152" y="1618488"/>
            <a:ext cx="1362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99B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Context</a:t>
            </a:r>
            <a:endParaRPr lang="en-US" sz="2000" dirty="0"/>
          </a:p>
        </p:txBody>
      </p:sp>
      <p:sp>
        <p:nvSpPr>
          <p:cNvPr id="44" name="Text 42"/>
          <p:cNvSpPr/>
          <p:nvPr/>
        </p:nvSpPr>
        <p:spPr>
          <a:xfrm>
            <a:off x="10360152" y="2075688"/>
            <a:ext cx="1362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E6A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Clinical metadata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8065008" y="1938528"/>
            <a:ext cx="329184" cy="0"/>
          </a:xfrm>
          <a:prstGeom prst="line">
            <a:avLst/>
          </a:prstGeom>
          <a:noFill/>
          <a:ln w="20320">
            <a:solidFill>
              <a:srgbClr val="5E6A73"/>
            </a:solidFill>
            <a:prstDash val="solid"/>
            <a:headEnd type="none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10076688" y="1938528"/>
            <a:ext cx="146304" cy="0"/>
          </a:xfrm>
          <a:prstGeom prst="line">
            <a:avLst/>
          </a:prstGeom>
          <a:noFill/>
          <a:ln w="20320">
            <a:solidFill>
              <a:srgbClr val="5E6A73"/>
            </a:solidFill>
            <a:prstDash val="solid"/>
            <a:headEnd type="none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7406640" y="2971800"/>
            <a:ext cx="2971800" cy="1417320"/>
          </a:xfrm>
          <a:prstGeom prst="ellipse">
            <a:avLst/>
          </a:prstGeom>
          <a:solidFill>
            <a:srgbClr val="F1F7FA"/>
          </a:solidFill>
          <a:ln w="15240">
            <a:solidFill>
              <a:srgbClr val="B7D0D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72400" y="3319272"/>
            <a:ext cx="2240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2A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Clinically usable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0D2A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decision support</a:t>
            </a:r>
            <a:endParaRPr lang="en-US" sz="2000" dirty="0"/>
          </a:p>
        </p:txBody>
      </p:sp>
      <p:sp>
        <p:nvSpPr>
          <p:cNvPr id="49" name="Text 47"/>
          <p:cNvSpPr/>
          <p:nvPr/>
        </p:nvSpPr>
        <p:spPr>
          <a:xfrm>
            <a:off x="6629400" y="48463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E6A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Goal: small enough for practical deployment, strong enough across all eight classes.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43800" y="45720"/>
            <a:ext cx="1097280" cy="36576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41080" y="411480"/>
            <a:ext cx="1143000" cy="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784080" y="91440"/>
            <a:ext cx="1051560" cy="54864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35640" y="640080"/>
            <a:ext cx="1005840" cy="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41080" y="411480"/>
            <a:ext cx="0" cy="82296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183880" y="1234440"/>
            <a:ext cx="1097280" cy="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281160" y="1005840"/>
            <a:ext cx="1005840" cy="50292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287000" y="1508760"/>
            <a:ext cx="1188720" cy="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183880" y="1234440"/>
            <a:ext cx="594360" cy="91440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778240" y="2148840"/>
            <a:ext cx="1051560" cy="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829800" y="1874520"/>
            <a:ext cx="1234440" cy="45720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281160" y="1005840"/>
            <a:ext cx="548640" cy="86868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835640" y="640080"/>
            <a:ext cx="640080" cy="50292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475720" y="1143000"/>
            <a:ext cx="0" cy="118872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784080" y="91440"/>
            <a:ext cx="0" cy="91440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507224" y="9144"/>
            <a:ext cx="73152" cy="73152"/>
          </a:xfrm>
          <a:prstGeom prst="ellipse">
            <a:avLst/>
          </a:prstGeom>
          <a:solidFill>
            <a:srgbClr val="D7DDE2">
              <a:alpha val="80000"/>
            </a:srgbClr>
          </a:solidFill>
          <a:ln w="12700">
            <a:solidFill>
              <a:srgbClr val="D7DDE2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604504" y="374904"/>
            <a:ext cx="73152" cy="73152"/>
          </a:xfrm>
          <a:prstGeom prst="ellipse">
            <a:avLst/>
          </a:prstGeom>
          <a:solidFill>
            <a:srgbClr val="D7DDE2">
              <a:alpha val="80000"/>
            </a:srgbClr>
          </a:solidFill>
          <a:ln w="12700">
            <a:solidFill>
              <a:srgbClr val="D7DDE2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747504" y="54864"/>
            <a:ext cx="73152" cy="73152"/>
          </a:xfrm>
          <a:prstGeom prst="ellipse">
            <a:avLst/>
          </a:prstGeom>
          <a:solidFill>
            <a:srgbClr val="D7DDE2">
              <a:alpha val="80000"/>
            </a:srgbClr>
          </a:solidFill>
          <a:ln w="12700">
            <a:solidFill>
              <a:srgbClr val="D7DDE2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799064" y="603504"/>
            <a:ext cx="73152" cy="73152"/>
          </a:xfrm>
          <a:prstGeom prst="ellipse">
            <a:avLst/>
          </a:prstGeom>
          <a:solidFill>
            <a:srgbClr val="D7DDE2">
              <a:alpha val="80000"/>
            </a:srgbClr>
          </a:solidFill>
          <a:ln w="12700">
            <a:solidFill>
              <a:srgbClr val="D7DDE2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804904" y="146304"/>
            <a:ext cx="73152" cy="73152"/>
          </a:xfrm>
          <a:prstGeom prst="ellipse">
            <a:avLst/>
          </a:prstGeom>
          <a:solidFill>
            <a:srgbClr val="D7DDE2">
              <a:alpha val="80000"/>
            </a:srgbClr>
          </a:solidFill>
          <a:ln w="12700">
            <a:solidFill>
              <a:srgbClr val="D7DDE2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147304" y="1197864"/>
            <a:ext cx="73152" cy="73152"/>
          </a:xfrm>
          <a:prstGeom prst="ellipse">
            <a:avLst/>
          </a:prstGeom>
          <a:solidFill>
            <a:srgbClr val="D7DDE2">
              <a:alpha val="80000"/>
            </a:srgbClr>
          </a:solidFill>
          <a:ln w="12700">
            <a:solidFill>
              <a:srgbClr val="D7DDE2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244584" y="969264"/>
            <a:ext cx="73152" cy="73152"/>
          </a:xfrm>
          <a:prstGeom prst="ellipse">
            <a:avLst/>
          </a:prstGeom>
          <a:solidFill>
            <a:srgbClr val="D7DDE2">
              <a:alpha val="80000"/>
            </a:srgbClr>
          </a:solidFill>
          <a:ln w="12700">
            <a:solidFill>
              <a:srgbClr val="D7DDE2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250424" y="1472184"/>
            <a:ext cx="73152" cy="73152"/>
          </a:xfrm>
          <a:prstGeom prst="ellipse">
            <a:avLst/>
          </a:prstGeom>
          <a:solidFill>
            <a:srgbClr val="D7DDE2">
              <a:alpha val="80000"/>
            </a:srgbClr>
          </a:solidFill>
          <a:ln w="12700">
            <a:solidFill>
              <a:srgbClr val="D7DDE2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439144" y="1106424"/>
            <a:ext cx="73152" cy="73152"/>
          </a:xfrm>
          <a:prstGeom prst="ellipse">
            <a:avLst/>
          </a:prstGeom>
          <a:solidFill>
            <a:srgbClr val="D7DDE2">
              <a:alpha val="80000"/>
            </a:srgbClr>
          </a:solidFill>
          <a:ln w="12700">
            <a:solidFill>
              <a:srgbClr val="D7DDE2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741664" y="2112264"/>
            <a:ext cx="73152" cy="73152"/>
          </a:xfrm>
          <a:prstGeom prst="ellipse">
            <a:avLst/>
          </a:prstGeom>
          <a:solidFill>
            <a:srgbClr val="D7DDE2">
              <a:alpha val="80000"/>
            </a:srgbClr>
          </a:solidFill>
          <a:ln w="12700">
            <a:solidFill>
              <a:srgbClr val="D7DDE2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793224" y="1837944"/>
            <a:ext cx="73152" cy="73152"/>
          </a:xfrm>
          <a:prstGeom prst="ellipse">
            <a:avLst/>
          </a:prstGeom>
          <a:solidFill>
            <a:srgbClr val="D7DDE2">
              <a:alpha val="80000"/>
            </a:srgbClr>
          </a:solidFill>
          <a:ln w="12700">
            <a:solidFill>
              <a:srgbClr val="D7DDE2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027664" y="2295144"/>
            <a:ext cx="73152" cy="73152"/>
          </a:xfrm>
          <a:prstGeom prst="ellipse">
            <a:avLst/>
          </a:prstGeom>
          <a:solidFill>
            <a:srgbClr val="D7DDE2">
              <a:alpha val="80000"/>
            </a:srgbClr>
          </a:solidFill>
          <a:ln w="12700">
            <a:solidFill>
              <a:srgbClr val="D7DDE2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" y="384048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 Statement &amp; Research Gap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621792" y="89611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E6A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Accuracy alone is not enough for clinical usefulness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94360" y="1133856"/>
            <a:ext cx="10835640" cy="0"/>
          </a:xfrm>
          <a:prstGeom prst="line">
            <a:avLst/>
          </a:prstGeom>
          <a:noFill/>
          <a:ln w="15240">
            <a:solidFill>
              <a:srgbClr val="1E1E1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6364224"/>
            <a:ext cx="5074920" cy="384048"/>
          </a:xfrm>
          <a:prstGeom prst="parallelogram">
            <a:avLst/>
          </a:prstGeom>
          <a:solidFill>
            <a:srgbClr val="B7D0DC"/>
          </a:solidFill>
          <a:ln w="12700">
            <a:solidFill>
              <a:srgbClr val="B7D0DC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1722608" y="651967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49808" y="1463040"/>
            <a:ext cx="5623560" cy="3749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74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ISIC-2019 is severely imbalanced: NV has 12,875 images while DF has only 239.</a:t>
            </a:r>
            <a:endParaRPr lang="en-US" sz="1740" dirty="0"/>
          </a:p>
          <a:p>
            <a:pPr marL="127000" indent="-127000">
              <a:buSzPct val="100000"/>
              <a:buChar char="•"/>
            </a:pPr>
            <a:r>
              <a:rPr lang="en-US" sz="174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Naive models can over-predict common classes and hide rare-class failure behind overall accuracy.</a:t>
            </a:r>
            <a:endParaRPr lang="en-US" sz="1740" dirty="0"/>
          </a:p>
          <a:p>
            <a:pPr marL="127000" indent="-127000">
              <a:buSzPct val="100000"/>
              <a:buChar char="•"/>
            </a:pPr>
            <a:r>
              <a:rPr lang="en-US" sz="174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Most high-performing ISIC systems use heavy ensembles, limiting practical deployment.</a:t>
            </a:r>
            <a:endParaRPr lang="en-US" sz="1740" dirty="0"/>
          </a:p>
          <a:p>
            <a:pPr marL="127000" indent="-127000">
              <a:buSzPct val="100000"/>
              <a:buChar char="•"/>
            </a:pPr>
            <a:r>
              <a:rPr lang="en-US" sz="174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Many image-only classifiers discard metadata that dermatologists naturally use.</a:t>
            </a:r>
            <a:endParaRPr lang="en-US" sz="1740" dirty="0"/>
          </a:p>
        </p:txBody>
      </p:sp>
      <p:sp>
        <p:nvSpPr>
          <p:cNvPr id="36" name="Text 34"/>
          <p:cNvSpPr/>
          <p:nvPr/>
        </p:nvSpPr>
        <p:spPr>
          <a:xfrm>
            <a:off x="6720840" y="1325880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 imbalance (full collection)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492240" y="1755648"/>
            <a:ext cx="640080" cy="2868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NV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7269480" y="1819656"/>
            <a:ext cx="3474720" cy="73152"/>
          </a:xfrm>
          <a:prstGeom prst="rect">
            <a:avLst/>
          </a:prstGeom>
          <a:solidFill>
            <a:srgbClr val="E7EDF1"/>
          </a:solidFill>
          <a:ln w="12700">
            <a:solidFill>
              <a:srgbClr val="E7EDF1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269480" y="1755648"/>
            <a:ext cx="3474720" cy="201168"/>
          </a:xfrm>
          <a:prstGeom prst="rect">
            <a:avLst/>
          </a:prstGeom>
          <a:solidFill>
            <a:srgbClr val="C95E5E"/>
          </a:solidFill>
          <a:ln w="12700">
            <a:solidFill>
              <a:srgbClr val="C95E5E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817352" y="1746504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5E6A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12,875</a:t>
            </a:r>
            <a:endParaRPr lang="en-US" sz="820" dirty="0"/>
          </a:p>
        </p:txBody>
      </p:sp>
      <p:sp>
        <p:nvSpPr>
          <p:cNvPr id="41" name="Text 39"/>
          <p:cNvSpPr/>
          <p:nvPr/>
        </p:nvSpPr>
        <p:spPr>
          <a:xfrm>
            <a:off x="6492240" y="2069973"/>
            <a:ext cx="640080" cy="2868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MEL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7269480" y="2133981"/>
            <a:ext cx="3474720" cy="73152"/>
          </a:xfrm>
          <a:prstGeom prst="rect">
            <a:avLst/>
          </a:prstGeom>
          <a:solidFill>
            <a:srgbClr val="E7EDF1"/>
          </a:solidFill>
          <a:ln w="12700">
            <a:solidFill>
              <a:srgbClr val="E7EDF1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269480" y="2069973"/>
            <a:ext cx="1220403" cy="201168"/>
          </a:xfrm>
          <a:prstGeom prst="rect">
            <a:avLst/>
          </a:prstGeom>
          <a:solidFill>
            <a:srgbClr val="C95E5E"/>
          </a:solidFill>
          <a:ln w="12700">
            <a:solidFill>
              <a:srgbClr val="C95E5E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0817352" y="2060829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5E6A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4,522</a:t>
            </a:r>
            <a:endParaRPr lang="en-US" sz="820" dirty="0"/>
          </a:p>
        </p:txBody>
      </p:sp>
      <p:sp>
        <p:nvSpPr>
          <p:cNvPr id="45" name="Text 43"/>
          <p:cNvSpPr/>
          <p:nvPr/>
        </p:nvSpPr>
        <p:spPr>
          <a:xfrm>
            <a:off x="6492240" y="2384298"/>
            <a:ext cx="640080" cy="2868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BCC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7269480" y="2448306"/>
            <a:ext cx="3474720" cy="73152"/>
          </a:xfrm>
          <a:prstGeom prst="rect">
            <a:avLst/>
          </a:prstGeom>
          <a:solidFill>
            <a:srgbClr val="E7EDF1"/>
          </a:solidFill>
          <a:ln w="12700">
            <a:solidFill>
              <a:srgbClr val="E7EDF1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269480" y="2384298"/>
            <a:ext cx="896815" cy="201168"/>
          </a:xfrm>
          <a:prstGeom prst="rect">
            <a:avLst/>
          </a:prstGeom>
          <a:solidFill>
            <a:srgbClr val="C95E5E"/>
          </a:solidFill>
          <a:ln w="12700">
            <a:solidFill>
              <a:srgbClr val="C95E5E">
                <a:alpha val="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0817352" y="2375154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5E6A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3,323</a:t>
            </a:r>
            <a:endParaRPr lang="en-US" sz="820" dirty="0"/>
          </a:p>
        </p:txBody>
      </p:sp>
      <p:sp>
        <p:nvSpPr>
          <p:cNvPr id="49" name="Text 47"/>
          <p:cNvSpPr/>
          <p:nvPr/>
        </p:nvSpPr>
        <p:spPr>
          <a:xfrm>
            <a:off x="6492240" y="2698623"/>
            <a:ext cx="640080" cy="2868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BKL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7269480" y="2762631"/>
            <a:ext cx="3474720" cy="73152"/>
          </a:xfrm>
          <a:prstGeom prst="rect">
            <a:avLst/>
          </a:prstGeom>
          <a:solidFill>
            <a:srgbClr val="E7EDF1"/>
          </a:solidFill>
          <a:ln w="12700">
            <a:solidFill>
              <a:srgbClr val="E7EDF1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269480" y="2698623"/>
            <a:ext cx="708168" cy="201168"/>
          </a:xfrm>
          <a:prstGeom prst="rect">
            <a:avLst/>
          </a:prstGeom>
          <a:solidFill>
            <a:srgbClr val="C95E5E"/>
          </a:solidFill>
          <a:ln w="12700">
            <a:solidFill>
              <a:srgbClr val="C95E5E">
                <a:alpha val="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0817352" y="2689479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5E6A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2,624</a:t>
            </a:r>
            <a:endParaRPr lang="en-US" sz="820" dirty="0"/>
          </a:p>
        </p:txBody>
      </p:sp>
      <p:sp>
        <p:nvSpPr>
          <p:cNvPr id="53" name="Text 51"/>
          <p:cNvSpPr/>
          <p:nvPr/>
        </p:nvSpPr>
        <p:spPr>
          <a:xfrm>
            <a:off x="6492240" y="3012948"/>
            <a:ext cx="640080" cy="2868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AK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7269480" y="3076956"/>
            <a:ext cx="3474720" cy="73152"/>
          </a:xfrm>
          <a:prstGeom prst="rect">
            <a:avLst/>
          </a:prstGeom>
          <a:solidFill>
            <a:srgbClr val="E7EDF1"/>
          </a:solidFill>
          <a:ln w="12700">
            <a:solidFill>
              <a:srgbClr val="E7EDF1">
                <a:alpha val="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269480" y="3012948"/>
            <a:ext cx="233987" cy="201168"/>
          </a:xfrm>
          <a:prstGeom prst="rect">
            <a:avLst/>
          </a:prstGeom>
          <a:solidFill>
            <a:srgbClr val="C95E5E"/>
          </a:solidFill>
          <a:ln w="12700">
            <a:solidFill>
              <a:srgbClr val="C95E5E">
                <a:alpha val="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0817352" y="3003804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5E6A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867</a:t>
            </a:r>
            <a:endParaRPr lang="en-US" sz="820" dirty="0"/>
          </a:p>
        </p:txBody>
      </p:sp>
      <p:sp>
        <p:nvSpPr>
          <p:cNvPr id="57" name="Text 55"/>
          <p:cNvSpPr/>
          <p:nvPr/>
        </p:nvSpPr>
        <p:spPr>
          <a:xfrm>
            <a:off x="6492240" y="3327273"/>
            <a:ext cx="640080" cy="2868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SCC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7269480" y="3391281"/>
            <a:ext cx="3474720" cy="73152"/>
          </a:xfrm>
          <a:prstGeom prst="rect">
            <a:avLst/>
          </a:prstGeom>
          <a:solidFill>
            <a:srgbClr val="E7EDF1"/>
          </a:solidFill>
          <a:ln w="12700">
            <a:solidFill>
              <a:srgbClr val="E7EDF1">
                <a:alpha val="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269480" y="3327273"/>
            <a:ext cx="169485" cy="201168"/>
          </a:xfrm>
          <a:prstGeom prst="rect">
            <a:avLst/>
          </a:prstGeom>
          <a:solidFill>
            <a:srgbClr val="C95E5E"/>
          </a:solidFill>
          <a:ln w="12700">
            <a:solidFill>
              <a:srgbClr val="C95E5E">
                <a:alpha val="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0817352" y="3318129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5E6A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628</a:t>
            </a:r>
            <a:endParaRPr lang="en-US" sz="820" dirty="0"/>
          </a:p>
        </p:txBody>
      </p:sp>
      <p:sp>
        <p:nvSpPr>
          <p:cNvPr id="61" name="Text 59"/>
          <p:cNvSpPr/>
          <p:nvPr/>
        </p:nvSpPr>
        <p:spPr>
          <a:xfrm>
            <a:off x="6492240" y="3641598"/>
            <a:ext cx="640080" cy="2868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VASC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7269480" y="3705606"/>
            <a:ext cx="3474720" cy="73152"/>
          </a:xfrm>
          <a:prstGeom prst="rect">
            <a:avLst/>
          </a:prstGeom>
          <a:solidFill>
            <a:srgbClr val="E7EDF1"/>
          </a:solidFill>
          <a:ln w="12700">
            <a:solidFill>
              <a:srgbClr val="E7EDF1">
                <a:alpha val="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269480" y="3641598"/>
            <a:ext cx="68280" cy="201168"/>
          </a:xfrm>
          <a:prstGeom prst="rect">
            <a:avLst/>
          </a:prstGeom>
          <a:solidFill>
            <a:srgbClr val="C95E5E"/>
          </a:solidFill>
          <a:ln w="12700">
            <a:solidFill>
              <a:srgbClr val="C95E5E">
                <a:alpha val="0"/>
              </a:srgbClr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0817352" y="3632454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5E6A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253</a:t>
            </a:r>
            <a:endParaRPr lang="en-US" sz="820" dirty="0"/>
          </a:p>
        </p:txBody>
      </p:sp>
      <p:sp>
        <p:nvSpPr>
          <p:cNvPr id="65" name="Text 63"/>
          <p:cNvSpPr/>
          <p:nvPr/>
        </p:nvSpPr>
        <p:spPr>
          <a:xfrm>
            <a:off x="6492240" y="3955923"/>
            <a:ext cx="640080" cy="2868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DF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7269480" y="4019931"/>
            <a:ext cx="3474720" cy="73152"/>
          </a:xfrm>
          <a:prstGeom prst="rect">
            <a:avLst/>
          </a:prstGeom>
          <a:solidFill>
            <a:srgbClr val="E7EDF1"/>
          </a:solidFill>
          <a:ln w="12700">
            <a:solidFill>
              <a:srgbClr val="E7EDF1">
                <a:alpha val="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269480" y="3955923"/>
            <a:ext cx="64502" cy="201168"/>
          </a:xfrm>
          <a:prstGeom prst="rect">
            <a:avLst/>
          </a:prstGeom>
          <a:solidFill>
            <a:srgbClr val="C95E5E"/>
          </a:solidFill>
          <a:ln w="12700">
            <a:solidFill>
              <a:srgbClr val="C95E5E">
                <a:alpha val="0"/>
              </a:srgbClr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0817352" y="3946779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5E6A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239</a:t>
            </a:r>
            <a:endParaRPr lang="en-US" sz="820" dirty="0"/>
          </a:p>
        </p:txBody>
      </p:sp>
      <p:sp>
        <p:nvSpPr>
          <p:cNvPr id="69" name="Shape 67"/>
          <p:cNvSpPr/>
          <p:nvPr/>
        </p:nvSpPr>
        <p:spPr>
          <a:xfrm>
            <a:off x="6720840" y="4645152"/>
            <a:ext cx="4389120" cy="685800"/>
          </a:xfrm>
          <a:prstGeom prst="roundRect">
            <a:avLst>
              <a:gd name="adj" fmla="val 9333"/>
            </a:avLst>
          </a:prstGeom>
          <a:solidFill>
            <a:srgbClr val="FFF4F1"/>
          </a:solidFill>
          <a:ln w="12700">
            <a:solidFill>
              <a:srgbClr val="C95E5E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903720" y="482803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Metric choice: Balanced Multi-class Accuracy (mean recall across all classes)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43800" y="45720"/>
            <a:ext cx="1097280" cy="36576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41080" y="411480"/>
            <a:ext cx="1143000" cy="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784080" y="91440"/>
            <a:ext cx="1051560" cy="54864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35640" y="640080"/>
            <a:ext cx="1005840" cy="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41080" y="411480"/>
            <a:ext cx="0" cy="82296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183880" y="1234440"/>
            <a:ext cx="1097280" cy="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281160" y="1005840"/>
            <a:ext cx="1005840" cy="50292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287000" y="1508760"/>
            <a:ext cx="1188720" cy="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183880" y="1234440"/>
            <a:ext cx="594360" cy="91440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778240" y="2148840"/>
            <a:ext cx="1051560" cy="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829800" y="1874520"/>
            <a:ext cx="1234440" cy="45720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281160" y="1005840"/>
            <a:ext cx="548640" cy="86868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835640" y="640080"/>
            <a:ext cx="640080" cy="50292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475720" y="1143000"/>
            <a:ext cx="0" cy="118872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784080" y="91440"/>
            <a:ext cx="0" cy="91440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507224" y="9144"/>
            <a:ext cx="73152" cy="73152"/>
          </a:xfrm>
          <a:prstGeom prst="ellipse">
            <a:avLst/>
          </a:prstGeom>
          <a:solidFill>
            <a:srgbClr val="D7DDE2">
              <a:alpha val="80000"/>
            </a:srgbClr>
          </a:solidFill>
          <a:ln w="12700">
            <a:solidFill>
              <a:srgbClr val="D7DDE2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604504" y="374904"/>
            <a:ext cx="73152" cy="73152"/>
          </a:xfrm>
          <a:prstGeom prst="ellipse">
            <a:avLst/>
          </a:prstGeom>
          <a:solidFill>
            <a:srgbClr val="D7DDE2">
              <a:alpha val="80000"/>
            </a:srgbClr>
          </a:solidFill>
          <a:ln w="12700">
            <a:solidFill>
              <a:srgbClr val="D7DDE2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747504" y="54864"/>
            <a:ext cx="73152" cy="73152"/>
          </a:xfrm>
          <a:prstGeom prst="ellipse">
            <a:avLst/>
          </a:prstGeom>
          <a:solidFill>
            <a:srgbClr val="D7DDE2">
              <a:alpha val="80000"/>
            </a:srgbClr>
          </a:solidFill>
          <a:ln w="12700">
            <a:solidFill>
              <a:srgbClr val="D7DDE2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799064" y="603504"/>
            <a:ext cx="73152" cy="73152"/>
          </a:xfrm>
          <a:prstGeom prst="ellipse">
            <a:avLst/>
          </a:prstGeom>
          <a:solidFill>
            <a:srgbClr val="D7DDE2">
              <a:alpha val="80000"/>
            </a:srgbClr>
          </a:solidFill>
          <a:ln w="12700">
            <a:solidFill>
              <a:srgbClr val="D7DDE2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804904" y="146304"/>
            <a:ext cx="73152" cy="73152"/>
          </a:xfrm>
          <a:prstGeom prst="ellipse">
            <a:avLst/>
          </a:prstGeom>
          <a:solidFill>
            <a:srgbClr val="D7DDE2">
              <a:alpha val="80000"/>
            </a:srgbClr>
          </a:solidFill>
          <a:ln w="12700">
            <a:solidFill>
              <a:srgbClr val="D7DDE2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147304" y="1197864"/>
            <a:ext cx="73152" cy="73152"/>
          </a:xfrm>
          <a:prstGeom prst="ellipse">
            <a:avLst/>
          </a:prstGeom>
          <a:solidFill>
            <a:srgbClr val="D7DDE2">
              <a:alpha val="80000"/>
            </a:srgbClr>
          </a:solidFill>
          <a:ln w="12700">
            <a:solidFill>
              <a:srgbClr val="D7DDE2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244584" y="969264"/>
            <a:ext cx="73152" cy="73152"/>
          </a:xfrm>
          <a:prstGeom prst="ellipse">
            <a:avLst/>
          </a:prstGeom>
          <a:solidFill>
            <a:srgbClr val="D7DDE2">
              <a:alpha val="80000"/>
            </a:srgbClr>
          </a:solidFill>
          <a:ln w="12700">
            <a:solidFill>
              <a:srgbClr val="D7DDE2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250424" y="1472184"/>
            <a:ext cx="73152" cy="73152"/>
          </a:xfrm>
          <a:prstGeom prst="ellipse">
            <a:avLst/>
          </a:prstGeom>
          <a:solidFill>
            <a:srgbClr val="D7DDE2">
              <a:alpha val="80000"/>
            </a:srgbClr>
          </a:solidFill>
          <a:ln w="12700">
            <a:solidFill>
              <a:srgbClr val="D7DDE2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439144" y="1106424"/>
            <a:ext cx="73152" cy="73152"/>
          </a:xfrm>
          <a:prstGeom prst="ellipse">
            <a:avLst/>
          </a:prstGeom>
          <a:solidFill>
            <a:srgbClr val="D7DDE2">
              <a:alpha val="80000"/>
            </a:srgbClr>
          </a:solidFill>
          <a:ln w="12700">
            <a:solidFill>
              <a:srgbClr val="D7DDE2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741664" y="2112264"/>
            <a:ext cx="73152" cy="73152"/>
          </a:xfrm>
          <a:prstGeom prst="ellipse">
            <a:avLst/>
          </a:prstGeom>
          <a:solidFill>
            <a:srgbClr val="D7DDE2">
              <a:alpha val="80000"/>
            </a:srgbClr>
          </a:solidFill>
          <a:ln w="12700">
            <a:solidFill>
              <a:srgbClr val="D7DDE2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793224" y="1837944"/>
            <a:ext cx="73152" cy="73152"/>
          </a:xfrm>
          <a:prstGeom prst="ellipse">
            <a:avLst/>
          </a:prstGeom>
          <a:solidFill>
            <a:srgbClr val="D7DDE2">
              <a:alpha val="80000"/>
            </a:srgbClr>
          </a:solidFill>
          <a:ln w="12700">
            <a:solidFill>
              <a:srgbClr val="D7DDE2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027664" y="2295144"/>
            <a:ext cx="73152" cy="73152"/>
          </a:xfrm>
          <a:prstGeom prst="ellipse">
            <a:avLst/>
          </a:prstGeom>
          <a:solidFill>
            <a:srgbClr val="D7DDE2">
              <a:alpha val="80000"/>
            </a:srgbClr>
          </a:solidFill>
          <a:ln w="12700">
            <a:solidFill>
              <a:srgbClr val="D7DDE2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" y="384048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Objectives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621792" y="89611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E6A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this thesis set out to build and measure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94360" y="1133856"/>
            <a:ext cx="10835640" cy="0"/>
          </a:xfrm>
          <a:prstGeom prst="line">
            <a:avLst/>
          </a:prstGeom>
          <a:noFill/>
          <a:ln w="15240">
            <a:solidFill>
              <a:srgbClr val="1E1E1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6364224"/>
            <a:ext cx="5074920" cy="384048"/>
          </a:xfrm>
          <a:prstGeom prst="parallelogram">
            <a:avLst/>
          </a:prstGeom>
          <a:solidFill>
            <a:srgbClr val="B7D0DC"/>
          </a:solidFill>
          <a:ln w="12700">
            <a:solidFill>
              <a:srgbClr val="B7D0DC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1722608" y="651967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822960" y="1417320"/>
            <a:ext cx="3246120" cy="960120"/>
          </a:xfrm>
          <a:prstGeom prst="roundRect">
            <a:avLst>
              <a:gd name="adj" fmla="val 7619"/>
            </a:avLst>
          </a:prstGeom>
          <a:solidFill>
            <a:srgbClr val="DDECF2"/>
          </a:solidFill>
          <a:ln w="12700">
            <a:solidFill>
              <a:srgbClr val="0D2A3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68680" y="1527048"/>
            <a:ext cx="3154680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a lightweight CNN-Transformer classifier under 6M parameters and 1 GMAC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4434840" y="1417320"/>
            <a:ext cx="3246120" cy="960120"/>
          </a:xfrm>
          <a:prstGeom prst="roundRect">
            <a:avLst>
              <a:gd name="adj" fmla="val 7619"/>
            </a:avLst>
          </a:prstGeom>
          <a:solidFill>
            <a:srgbClr val="F2F1FA"/>
          </a:solidFill>
          <a:ln w="12700">
            <a:solidFill>
              <a:srgbClr val="8367C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480560" y="1527048"/>
            <a:ext cx="3154680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Fuse age, sex and anatomical site through metadata cross-attention with learned missing tokens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822960" y="3246120"/>
            <a:ext cx="3246120" cy="960120"/>
          </a:xfrm>
          <a:prstGeom prst="roundRect">
            <a:avLst>
              <a:gd name="adj" fmla="val 7619"/>
            </a:avLst>
          </a:prstGeom>
          <a:solidFill>
            <a:srgbClr val="F7F0E8"/>
          </a:solidFill>
          <a:ln w="12700">
            <a:solidFill>
              <a:srgbClr val="D99B5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68680" y="3355848"/>
            <a:ext cx="3154680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Develop DEKAN: a higher-capacity dual-backbone model for better balanced accuracy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4434840" y="3246120"/>
            <a:ext cx="3246120" cy="960120"/>
          </a:xfrm>
          <a:prstGeom prst="roundRect">
            <a:avLst>
              <a:gd name="adj" fmla="val 7619"/>
            </a:avLst>
          </a:prstGeom>
          <a:solidFill>
            <a:srgbClr val="EFF8F5"/>
          </a:solidFill>
          <a:ln w="12700">
            <a:solidFill>
              <a:srgbClr val="2BA4A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480560" y="3355848"/>
            <a:ext cx="3154680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fairly against five baselines and quantify design choices through ablations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4096512" y="1901952"/>
            <a:ext cx="274320" cy="0"/>
          </a:xfrm>
          <a:prstGeom prst="line">
            <a:avLst/>
          </a:prstGeom>
          <a:noFill/>
          <a:ln w="20320">
            <a:solidFill>
              <a:srgbClr val="5E6A73"/>
            </a:solidFill>
            <a:prstDash val="solid"/>
            <a:headEnd type="none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2423160" y="2395728"/>
            <a:ext cx="0" cy="758952"/>
          </a:xfrm>
          <a:prstGeom prst="line">
            <a:avLst/>
          </a:prstGeom>
          <a:noFill/>
          <a:ln w="20320">
            <a:solidFill>
              <a:srgbClr val="5E6A73"/>
            </a:solidFill>
            <a:prstDash val="solid"/>
            <a:headEnd type="none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6035040" y="2395728"/>
            <a:ext cx="0" cy="758952"/>
          </a:xfrm>
          <a:prstGeom prst="line">
            <a:avLst/>
          </a:prstGeom>
          <a:noFill/>
          <a:ln w="20320">
            <a:solidFill>
              <a:srgbClr val="5E6A73"/>
            </a:solidFill>
            <a:prstDash val="solid"/>
            <a:headEnd type="none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4096512" y="3730752"/>
            <a:ext cx="274320" cy="0"/>
          </a:xfrm>
          <a:prstGeom prst="line">
            <a:avLst/>
          </a:prstGeom>
          <a:noFill/>
          <a:ln w="20320">
            <a:solidFill>
              <a:srgbClr val="5E6A73"/>
            </a:solidFill>
            <a:prstDash val="solid"/>
            <a:headEnd type="none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8458200" y="1490472"/>
            <a:ext cx="1600200" cy="877824"/>
          </a:xfrm>
          <a:prstGeom prst="roundRect">
            <a:avLst>
              <a:gd name="adj" fmla="val 8333"/>
            </a:avLst>
          </a:prstGeom>
          <a:solidFill>
            <a:srgbClr val="F4F8FA"/>
          </a:solidFill>
          <a:ln w="12700">
            <a:solidFill>
              <a:srgbClr val="B7D0D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531352" y="1600200"/>
            <a:ext cx="1453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2A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3.98M</a:t>
            </a:r>
            <a:endParaRPr lang="en-US" sz="2000" dirty="0"/>
          </a:p>
        </p:txBody>
      </p:sp>
      <p:sp>
        <p:nvSpPr>
          <p:cNvPr id="49" name="Text 47"/>
          <p:cNvSpPr/>
          <p:nvPr/>
        </p:nvSpPr>
        <p:spPr>
          <a:xfrm>
            <a:off x="8531352" y="2057400"/>
            <a:ext cx="1453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E6A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Lightweight params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10149840" y="1490472"/>
            <a:ext cx="1600200" cy="877824"/>
          </a:xfrm>
          <a:prstGeom prst="roundRect">
            <a:avLst>
              <a:gd name="adj" fmla="val 8333"/>
            </a:avLst>
          </a:prstGeom>
          <a:solidFill>
            <a:srgbClr val="F4F8FA"/>
          </a:solidFill>
          <a:ln w="12700">
            <a:solidFill>
              <a:srgbClr val="B7D0D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0222992" y="1600200"/>
            <a:ext cx="1453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99B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16.45M</a:t>
            </a:r>
            <a:endParaRPr lang="en-US" sz="2000" dirty="0"/>
          </a:p>
        </p:txBody>
      </p:sp>
      <p:sp>
        <p:nvSpPr>
          <p:cNvPr id="52" name="Text 50"/>
          <p:cNvSpPr/>
          <p:nvPr/>
        </p:nvSpPr>
        <p:spPr>
          <a:xfrm>
            <a:off x="10222992" y="2057400"/>
            <a:ext cx="1453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E6A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DEKAN params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8458200" y="3063240"/>
            <a:ext cx="1600200" cy="877824"/>
          </a:xfrm>
          <a:prstGeom prst="roundRect">
            <a:avLst>
              <a:gd name="adj" fmla="val 8333"/>
            </a:avLst>
          </a:prstGeom>
          <a:solidFill>
            <a:srgbClr val="F4F8FA"/>
          </a:solidFill>
          <a:ln w="12700">
            <a:solidFill>
              <a:srgbClr val="B7D0D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531352" y="3172968"/>
            <a:ext cx="1453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2A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0.6081</a:t>
            </a:r>
            <a:endParaRPr lang="en-US" sz="2000" dirty="0"/>
          </a:p>
        </p:txBody>
      </p:sp>
      <p:sp>
        <p:nvSpPr>
          <p:cNvPr id="55" name="Text 53"/>
          <p:cNvSpPr/>
          <p:nvPr/>
        </p:nvSpPr>
        <p:spPr>
          <a:xfrm>
            <a:off x="8531352" y="3630168"/>
            <a:ext cx="1453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E6A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Hybrid BMA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10149840" y="3063240"/>
            <a:ext cx="1600200" cy="877824"/>
          </a:xfrm>
          <a:prstGeom prst="roundRect">
            <a:avLst>
              <a:gd name="adj" fmla="val 8333"/>
            </a:avLst>
          </a:prstGeom>
          <a:solidFill>
            <a:srgbClr val="F4F8FA"/>
          </a:solidFill>
          <a:ln w="12700">
            <a:solidFill>
              <a:srgbClr val="B7D0D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0222992" y="3172968"/>
            <a:ext cx="1453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99B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0.6438</a:t>
            </a:r>
            <a:endParaRPr lang="en-US" sz="2000" dirty="0"/>
          </a:p>
        </p:txBody>
      </p:sp>
      <p:sp>
        <p:nvSpPr>
          <p:cNvPr id="58" name="Text 56"/>
          <p:cNvSpPr/>
          <p:nvPr/>
        </p:nvSpPr>
        <p:spPr>
          <a:xfrm>
            <a:off x="10222992" y="3630168"/>
            <a:ext cx="1453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E6A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DEKAN BMA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43800" y="45720"/>
            <a:ext cx="1097280" cy="36576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41080" y="411480"/>
            <a:ext cx="1143000" cy="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784080" y="91440"/>
            <a:ext cx="1051560" cy="54864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35640" y="640080"/>
            <a:ext cx="1005840" cy="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41080" y="411480"/>
            <a:ext cx="0" cy="82296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183880" y="1234440"/>
            <a:ext cx="1097280" cy="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281160" y="1005840"/>
            <a:ext cx="1005840" cy="50292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287000" y="1508760"/>
            <a:ext cx="1188720" cy="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183880" y="1234440"/>
            <a:ext cx="594360" cy="91440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778240" y="2148840"/>
            <a:ext cx="1051560" cy="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829800" y="1874520"/>
            <a:ext cx="1234440" cy="45720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281160" y="1005840"/>
            <a:ext cx="548640" cy="86868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835640" y="640080"/>
            <a:ext cx="640080" cy="50292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475720" y="1143000"/>
            <a:ext cx="0" cy="118872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784080" y="91440"/>
            <a:ext cx="0" cy="91440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507224" y="9144"/>
            <a:ext cx="73152" cy="73152"/>
          </a:xfrm>
          <a:prstGeom prst="ellipse">
            <a:avLst/>
          </a:prstGeom>
          <a:solidFill>
            <a:srgbClr val="D7DDE2">
              <a:alpha val="80000"/>
            </a:srgbClr>
          </a:solidFill>
          <a:ln w="12700">
            <a:solidFill>
              <a:srgbClr val="D7DDE2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604504" y="374904"/>
            <a:ext cx="73152" cy="73152"/>
          </a:xfrm>
          <a:prstGeom prst="ellipse">
            <a:avLst/>
          </a:prstGeom>
          <a:solidFill>
            <a:srgbClr val="D7DDE2">
              <a:alpha val="80000"/>
            </a:srgbClr>
          </a:solidFill>
          <a:ln w="12700">
            <a:solidFill>
              <a:srgbClr val="D7DDE2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747504" y="54864"/>
            <a:ext cx="73152" cy="73152"/>
          </a:xfrm>
          <a:prstGeom prst="ellipse">
            <a:avLst/>
          </a:prstGeom>
          <a:solidFill>
            <a:srgbClr val="D7DDE2">
              <a:alpha val="80000"/>
            </a:srgbClr>
          </a:solidFill>
          <a:ln w="12700">
            <a:solidFill>
              <a:srgbClr val="D7DDE2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799064" y="603504"/>
            <a:ext cx="73152" cy="73152"/>
          </a:xfrm>
          <a:prstGeom prst="ellipse">
            <a:avLst/>
          </a:prstGeom>
          <a:solidFill>
            <a:srgbClr val="D7DDE2">
              <a:alpha val="80000"/>
            </a:srgbClr>
          </a:solidFill>
          <a:ln w="12700">
            <a:solidFill>
              <a:srgbClr val="D7DDE2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804904" y="146304"/>
            <a:ext cx="73152" cy="73152"/>
          </a:xfrm>
          <a:prstGeom prst="ellipse">
            <a:avLst/>
          </a:prstGeom>
          <a:solidFill>
            <a:srgbClr val="D7DDE2">
              <a:alpha val="80000"/>
            </a:srgbClr>
          </a:solidFill>
          <a:ln w="12700">
            <a:solidFill>
              <a:srgbClr val="D7DDE2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147304" y="1197864"/>
            <a:ext cx="73152" cy="73152"/>
          </a:xfrm>
          <a:prstGeom prst="ellipse">
            <a:avLst/>
          </a:prstGeom>
          <a:solidFill>
            <a:srgbClr val="D7DDE2">
              <a:alpha val="80000"/>
            </a:srgbClr>
          </a:solidFill>
          <a:ln w="12700">
            <a:solidFill>
              <a:srgbClr val="D7DDE2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244584" y="969264"/>
            <a:ext cx="73152" cy="73152"/>
          </a:xfrm>
          <a:prstGeom prst="ellipse">
            <a:avLst/>
          </a:prstGeom>
          <a:solidFill>
            <a:srgbClr val="D7DDE2">
              <a:alpha val="80000"/>
            </a:srgbClr>
          </a:solidFill>
          <a:ln w="12700">
            <a:solidFill>
              <a:srgbClr val="D7DDE2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250424" y="1472184"/>
            <a:ext cx="73152" cy="73152"/>
          </a:xfrm>
          <a:prstGeom prst="ellipse">
            <a:avLst/>
          </a:prstGeom>
          <a:solidFill>
            <a:srgbClr val="D7DDE2">
              <a:alpha val="80000"/>
            </a:srgbClr>
          </a:solidFill>
          <a:ln w="12700">
            <a:solidFill>
              <a:srgbClr val="D7DDE2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439144" y="1106424"/>
            <a:ext cx="73152" cy="73152"/>
          </a:xfrm>
          <a:prstGeom prst="ellipse">
            <a:avLst/>
          </a:prstGeom>
          <a:solidFill>
            <a:srgbClr val="D7DDE2">
              <a:alpha val="80000"/>
            </a:srgbClr>
          </a:solidFill>
          <a:ln w="12700">
            <a:solidFill>
              <a:srgbClr val="D7DDE2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741664" y="2112264"/>
            <a:ext cx="73152" cy="73152"/>
          </a:xfrm>
          <a:prstGeom prst="ellipse">
            <a:avLst/>
          </a:prstGeom>
          <a:solidFill>
            <a:srgbClr val="D7DDE2">
              <a:alpha val="80000"/>
            </a:srgbClr>
          </a:solidFill>
          <a:ln w="12700">
            <a:solidFill>
              <a:srgbClr val="D7DDE2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793224" y="1837944"/>
            <a:ext cx="73152" cy="73152"/>
          </a:xfrm>
          <a:prstGeom prst="ellipse">
            <a:avLst/>
          </a:prstGeom>
          <a:solidFill>
            <a:srgbClr val="D7DDE2">
              <a:alpha val="80000"/>
            </a:srgbClr>
          </a:solidFill>
          <a:ln w="12700">
            <a:solidFill>
              <a:srgbClr val="D7DDE2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027664" y="2295144"/>
            <a:ext cx="73152" cy="73152"/>
          </a:xfrm>
          <a:prstGeom prst="ellipse">
            <a:avLst/>
          </a:prstGeom>
          <a:solidFill>
            <a:srgbClr val="D7DDE2">
              <a:alpha val="80000"/>
            </a:srgbClr>
          </a:solidFill>
          <a:ln w="12700">
            <a:solidFill>
              <a:srgbClr val="D7DDE2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" y="384048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Dataset: ISIC-2019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621792" y="89611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E6A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dermoscopic image collection with clinical metadata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94360" y="1133856"/>
            <a:ext cx="10835640" cy="0"/>
          </a:xfrm>
          <a:prstGeom prst="line">
            <a:avLst/>
          </a:prstGeom>
          <a:noFill/>
          <a:ln w="15240">
            <a:solidFill>
              <a:srgbClr val="1E1E1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6364224"/>
            <a:ext cx="5074920" cy="384048"/>
          </a:xfrm>
          <a:prstGeom prst="parallelogram">
            <a:avLst/>
          </a:prstGeom>
          <a:solidFill>
            <a:srgbClr val="B7D0DC"/>
          </a:solidFill>
          <a:ln w="12700">
            <a:solidFill>
              <a:srgbClr val="B7D0DC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1722608" y="651967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49808" y="1417320"/>
            <a:ext cx="5074920" cy="2971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65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25,331 labelled dermoscopic images across 8 diagnostic categories.</a:t>
            </a:r>
            <a:endParaRPr lang="en-US" sz="1650" dirty="0"/>
          </a:p>
          <a:p>
            <a:pPr marL="127000" indent="-127000">
              <a:buSzPct val="100000"/>
              <a:buChar char="•"/>
            </a:pPr>
            <a:r>
              <a:rPr lang="en-US" sz="165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 include HAM10000, BCN20000 and MSK.</a:t>
            </a:r>
            <a:endParaRPr lang="en-US" sz="1650" dirty="0"/>
          </a:p>
          <a:p>
            <a:pPr marL="127000" indent="-127000">
              <a:buSzPct val="100000"/>
              <a:buChar char="•"/>
            </a:pPr>
            <a:r>
              <a:rPr lang="en-US" sz="165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Metadata: approximate age, sex, anatomical site and lesion identifier.</a:t>
            </a:r>
            <a:endParaRPr lang="en-US" sz="1650" dirty="0"/>
          </a:p>
          <a:p>
            <a:pPr marL="127000" indent="-127000">
              <a:buSzPct val="100000"/>
              <a:buChar char="•"/>
            </a:pPr>
            <a:r>
              <a:rPr lang="en-US" sz="165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Missingness is explicit: about 30% age, 20% sex and 15% site values are absent.</a:t>
            </a:r>
            <a:endParaRPr lang="en-US" sz="1650" dirty="0"/>
          </a:p>
        </p:txBody>
      </p:sp>
      <p:sp>
        <p:nvSpPr>
          <p:cNvPr id="36" name="Shape 34"/>
          <p:cNvSpPr/>
          <p:nvPr/>
        </p:nvSpPr>
        <p:spPr>
          <a:xfrm>
            <a:off x="868680" y="4617720"/>
            <a:ext cx="1325880" cy="749808"/>
          </a:xfrm>
          <a:prstGeom prst="roundRect">
            <a:avLst>
              <a:gd name="adj" fmla="val 9756"/>
            </a:avLst>
          </a:prstGeom>
          <a:solidFill>
            <a:srgbClr val="F4F8FA"/>
          </a:solidFill>
          <a:ln w="12700">
            <a:solidFill>
              <a:srgbClr val="B7D0D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41832" y="4727448"/>
            <a:ext cx="1179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2A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941832" y="5184648"/>
            <a:ext cx="1179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E6A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Classes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2331720" y="4617720"/>
            <a:ext cx="1325880" cy="749808"/>
          </a:xfrm>
          <a:prstGeom prst="roundRect">
            <a:avLst>
              <a:gd name="adj" fmla="val 9756"/>
            </a:avLst>
          </a:prstGeom>
          <a:solidFill>
            <a:srgbClr val="F4F8FA"/>
          </a:solidFill>
          <a:ln w="12700">
            <a:solidFill>
              <a:srgbClr val="B7D0D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404872" y="4727448"/>
            <a:ext cx="1179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BA4A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25,331</a:t>
            </a:r>
            <a:endParaRPr lang="en-US" sz="2000" dirty="0"/>
          </a:p>
        </p:txBody>
      </p:sp>
      <p:sp>
        <p:nvSpPr>
          <p:cNvPr id="41" name="Text 39"/>
          <p:cNvSpPr/>
          <p:nvPr/>
        </p:nvSpPr>
        <p:spPr>
          <a:xfrm>
            <a:off x="2404872" y="5184648"/>
            <a:ext cx="1179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E6A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Images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3794760" y="4617720"/>
            <a:ext cx="1325880" cy="749808"/>
          </a:xfrm>
          <a:prstGeom prst="roundRect">
            <a:avLst>
              <a:gd name="adj" fmla="val 9756"/>
            </a:avLst>
          </a:prstGeom>
          <a:solidFill>
            <a:srgbClr val="F4F8FA"/>
          </a:solidFill>
          <a:ln w="12700">
            <a:solidFill>
              <a:srgbClr val="B7D0D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867912" y="4727448"/>
            <a:ext cx="1179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99B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54 yrs</a:t>
            </a:r>
            <a:endParaRPr lang="en-US" sz="2000" dirty="0"/>
          </a:p>
        </p:txBody>
      </p:sp>
      <p:sp>
        <p:nvSpPr>
          <p:cNvPr id="44" name="Text 42"/>
          <p:cNvSpPr/>
          <p:nvPr/>
        </p:nvSpPr>
        <p:spPr>
          <a:xfrm>
            <a:off x="3867912" y="5184648"/>
            <a:ext cx="1179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E6A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 center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6446520" y="1344168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 distribution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6355080" y="3977640"/>
            <a:ext cx="5074920" cy="0"/>
          </a:xfrm>
          <a:prstGeom prst="line">
            <a:avLst/>
          </a:prstGeom>
          <a:noFill/>
          <a:ln w="12700">
            <a:solidFill>
              <a:srgbClr val="A7B0B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355080" y="3206859"/>
            <a:ext cx="538353" cy="770781"/>
          </a:xfrm>
          <a:prstGeom prst="rect">
            <a:avLst/>
          </a:prstGeom>
          <a:solidFill>
            <a:srgbClr val="C95E5E"/>
          </a:solidFill>
          <a:ln w="12700">
            <a:solidFill>
              <a:srgbClr val="C95E5E">
                <a:alpha val="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309360" y="3005691"/>
            <a:ext cx="62979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4.5k</a:t>
            </a:r>
            <a:endParaRPr lang="en-US" sz="820" dirty="0"/>
          </a:p>
        </p:txBody>
      </p:sp>
      <p:sp>
        <p:nvSpPr>
          <p:cNvPr id="49" name="Text 47"/>
          <p:cNvSpPr/>
          <p:nvPr/>
        </p:nvSpPr>
        <p:spPr>
          <a:xfrm>
            <a:off x="6336792" y="4050792"/>
            <a:ext cx="57492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5E6A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MEL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7003161" y="1783080"/>
            <a:ext cx="538353" cy="2194560"/>
          </a:xfrm>
          <a:prstGeom prst="rect">
            <a:avLst/>
          </a:prstGeom>
          <a:solidFill>
            <a:srgbClr val="0D2A3A"/>
          </a:solidFill>
          <a:ln w="12700">
            <a:solidFill>
              <a:srgbClr val="0D2A3A">
                <a:alpha val="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957441" y="1581912"/>
            <a:ext cx="62979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12.9k</a:t>
            </a:r>
            <a:endParaRPr lang="en-US" sz="820" dirty="0"/>
          </a:p>
        </p:txBody>
      </p:sp>
      <p:sp>
        <p:nvSpPr>
          <p:cNvPr id="52" name="Text 50"/>
          <p:cNvSpPr/>
          <p:nvPr/>
        </p:nvSpPr>
        <p:spPr>
          <a:xfrm>
            <a:off x="6984873" y="4050792"/>
            <a:ext cx="57492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5E6A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NV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7651242" y="3411230"/>
            <a:ext cx="538353" cy="566410"/>
          </a:xfrm>
          <a:prstGeom prst="rect">
            <a:avLst/>
          </a:prstGeom>
          <a:solidFill>
            <a:srgbClr val="2BA4A0"/>
          </a:solidFill>
          <a:ln w="12700">
            <a:solidFill>
              <a:srgbClr val="2BA4A0">
                <a:alpha val="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605522" y="3210062"/>
            <a:ext cx="62979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3.3k</a:t>
            </a:r>
            <a:endParaRPr lang="en-US" sz="820" dirty="0"/>
          </a:p>
        </p:txBody>
      </p:sp>
      <p:sp>
        <p:nvSpPr>
          <p:cNvPr id="55" name="Text 53"/>
          <p:cNvSpPr/>
          <p:nvPr/>
        </p:nvSpPr>
        <p:spPr>
          <a:xfrm>
            <a:off x="7632954" y="4050792"/>
            <a:ext cx="57492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5E6A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BCC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8299323" y="3829859"/>
            <a:ext cx="538353" cy="147781"/>
          </a:xfrm>
          <a:prstGeom prst="rect">
            <a:avLst/>
          </a:prstGeom>
          <a:solidFill>
            <a:srgbClr val="D99B5A"/>
          </a:solidFill>
          <a:ln w="12700">
            <a:solidFill>
              <a:srgbClr val="D99B5A">
                <a:alpha val="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253603" y="3628691"/>
            <a:ext cx="62979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867</a:t>
            </a:r>
            <a:endParaRPr lang="en-US" sz="820" dirty="0"/>
          </a:p>
        </p:txBody>
      </p:sp>
      <p:sp>
        <p:nvSpPr>
          <p:cNvPr id="58" name="Text 56"/>
          <p:cNvSpPr/>
          <p:nvPr/>
        </p:nvSpPr>
        <p:spPr>
          <a:xfrm>
            <a:off x="8281035" y="4050792"/>
            <a:ext cx="57492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5E6A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AK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8947404" y="3530376"/>
            <a:ext cx="538353" cy="447264"/>
          </a:xfrm>
          <a:prstGeom prst="rect">
            <a:avLst/>
          </a:prstGeom>
          <a:solidFill>
            <a:srgbClr val="8367C7"/>
          </a:solidFill>
          <a:ln w="12700">
            <a:solidFill>
              <a:srgbClr val="8367C7">
                <a:alpha val="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901684" y="3329208"/>
            <a:ext cx="62979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2.6k</a:t>
            </a:r>
            <a:endParaRPr lang="en-US" sz="820" dirty="0"/>
          </a:p>
        </p:txBody>
      </p:sp>
      <p:sp>
        <p:nvSpPr>
          <p:cNvPr id="61" name="Text 59"/>
          <p:cNvSpPr/>
          <p:nvPr/>
        </p:nvSpPr>
        <p:spPr>
          <a:xfrm>
            <a:off x="8929116" y="4050792"/>
            <a:ext cx="57492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5E6A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BKL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9595485" y="3936902"/>
            <a:ext cx="538353" cy="40738"/>
          </a:xfrm>
          <a:prstGeom prst="rect">
            <a:avLst/>
          </a:prstGeom>
          <a:solidFill>
            <a:srgbClr val="68B487"/>
          </a:solidFill>
          <a:ln w="12700">
            <a:solidFill>
              <a:srgbClr val="68B487">
                <a:alpha val="0"/>
              </a:srgbClr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549765" y="3735734"/>
            <a:ext cx="62979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239</a:t>
            </a:r>
            <a:endParaRPr lang="en-US" sz="820" dirty="0"/>
          </a:p>
        </p:txBody>
      </p:sp>
      <p:sp>
        <p:nvSpPr>
          <p:cNvPr id="64" name="Text 62"/>
          <p:cNvSpPr/>
          <p:nvPr/>
        </p:nvSpPr>
        <p:spPr>
          <a:xfrm>
            <a:off x="9577197" y="4050792"/>
            <a:ext cx="57492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5E6A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DF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10243566" y="3934516"/>
            <a:ext cx="538353" cy="43124"/>
          </a:xfrm>
          <a:prstGeom prst="rect">
            <a:avLst/>
          </a:prstGeom>
          <a:solidFill>
            <a:srgbClr val="B7D0DC"/>
          </a:solidFill>
          <a:ln w="12700">
            <a:solidFill>
              <a:srgbClr val="B7D0DC">
                <a:alpha val="0"/>
              </a:srgbClr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0197846" y="3733348"/>
            <a:ext cx="62979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253</a:t>
            </a:r>
            <a:endParaRPr lang="en-US" sz="820" dirty="0"/>
          </a:p>
        </p:txBody>
      </p:sp>
      <p:sp>
        <p:nvSpPr>
          <p:cNvPr id="67" name="Text 65"/>
          <p:cNvSpPr/>
          <p:nvPr/>
        </p:nvSpPr>
        <p:spPr>
          <a:xfrm>
            <a:off x="10225278" y="4050792"/>
            <a:ext cx="57492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5E6A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VASC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10891647" y="3870597"/>
            <a:ext cx="538353" cy="107043"/>
          </a:xfrm>
          <a:prstGeom prst="rect">
            <a:avLst/>
          </a:prstGeom>
          <a:solidFill>
            <a:srgbClr val="5D5146"/>
          </a:solidFill>
          <a:ln w="12700">
            <a:solidFill>
              <a:srgbClr val="5D5146">
                <a:alpha val="0"/>
              </a:srgbClr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0845927" y="3669429"/>
            <a:ext cx="62979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628</a:t>
            </a:r>
            <a:endParaRPr lang="en-US" sz="820" dirty="0"/>
          </a:p>
        </p:txBody>
      </p:sp>
      <p:sp>
        <p:nvSpPr>
          <p:cNvPr id="70" name="Text 68"/>
          <p:cNvSpPr/>
          <p:nvPr/>
        </p:nvSpPr>
        <p:spPr>
          <a:xfrm>
            <a:off x="10873359" y="4050792"/>
            <a:ext cx="57492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5E6A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SCC</a:t>
            </a:r>
            <a:endParaRPr lang="en-US" sz="750" dirty="0"/>
          </a:p>
        </p:txBody>
      </p:sp>
      <p:sp>
        <p:nvSpPr>
          <p:cNvPr id="71" name="Text 69"/>
          <p:cNvSpPr/>
          <p:nvPr/>
        </p:nvSpPr>
        <p:spPr>
          <a:xfrm>
            <a:off x="6583680" y="4983480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5E6A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largest class is more than 50x larger than the smallest.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43800" y="45720"/>
            <a:ext cx="1097280" cy="36576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41080" y="411480"/>
            <a:ext cx="1143000" cy="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784080" y="91440"/>
            <a:ext cx="1051560" cy="54864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35640" y="640080"/>
            <a:ext cx="1005840" cy="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41080" y="411480"/>
            <a:ext cx="0" cy="82296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183880" y="1234440"/>
            <a:ext cx="1097280" cy="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281160" y="1005840"/>
            <a:ext cx="1005840" cy="50292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287000" y="1508760"/>
            <a:ext cx="1188720" cy="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183880" y="1234440"/>
            <a:ext cx="594360" cy="91440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778240" y="2148840"/>
            <a:ext cx="1051560" cy="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829800" y="1874520"/>
            <a:ext cx="1234440" cy="45720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281160" y="1005840"/>
            <a:ext cx="548640" cy="86868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835640" y="640080"/>
            <a:ext cx="640080" cy="50292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475720" y="1143000"/>
            <a:ext cx="0" cy="118872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784080" y="91440"/>
            <a:ext cx="0" cy="91440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507224" y="9144"/>
            <a:ext cx="73152" cy="73152"/>
          </a:xfrm>
          <a:prstGeom prst="ellipse">
            <a:avLst/>
          </a:prstGeom>
          <a:solidFill>
            <a:srgbClr val="D7DDE2">
              <a:alpha val="80000"/>
            </a:srgbClr>
          </a:solidFill>
          <a:ln w="12700">
            <a:solidFill>
              <a:srgbClr val="D7DDE2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604504" y="374904"/>
            <a:ext cx="73152" cy="73152"/>
          </a:xfrm>
          <a:prstGeom prst="ellipse">
            <a:avLst/>
          </a:prstGeom>
          <a:solidFill>
            <a:srgbClr val="D7DDE2">
              <a:alpha val="80000"/>
            </a:srgbClr>
          </a:solidFill>
          <a:ln w="12700">
            <a:solidFill>
              <a:srgbClr val="D7DDE2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747504" y="54864"/>
            <a:ext cx="73152" cy="73152"/>
          </a:xfrm>
          <a:prstGeom prst="ellipse">
            <a:avLst/>
          </a:prstGeom>
          <a:solidFill>
            <a:srgbClr val="D7DDE2">
              <a:alpha val="80000"/>
            </a:srgbClr>
          </a:solidFill>
          <a:ln w="12700">
            <a:solidFill>
              <a:srgbClr val="D7DDE2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799064" y="603504"/>
            <a:ext cx="73152" cy="73152"/>
          </a:xfrm>
          <a:prstGeom prst="ellipse">
            <a:avLst/>
          </a:prstGeom>
          <a:solidFill>
            <a:srgbClr val="D7DDE2">
              <a:alpha val="80000"/>
            </a:srgbClr>
          </a:solidFill>
          <a:ln w="12700">
            <a:solidFill>
              <a:srgbClr val="D7DDE2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804904" y="146304"/>
            <a:ext cx="73152" cy="73152"/>
          </a:xfrm>
          <a:prstGeom prst="ellipse">
            <a:avLst/>
          </a:prstGeom>
          <a:solidFill>
            <a:srgbClr val="D7DDE2">
              <a:alpha val="80000"/>
            </a:srgbClr>
          </a:solidFill>
          <a:ln w="12700">
            <a:solidFill>
              <a:srgbClr val="D7DDE2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147304" y="1197864"/>
            <a:ext cx="73152" cy="73152"/>
          </a:xfrm>
          <a:prstGeom prst="ellipse">
            <a:avLst/>
          </a:prstGeom>
          <a:solidFill>
            <a:srgbClr val="D7DDE2">
              <a:alpha val="80000"/>
            </a:srgbClr>
          </a:solidFill>
          <a:ln w="12700">
            <a:solidFill>
              <a:srgbClr val="D7DDE2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244584" y="969264"/>
            <a:ext cx="73152" cy="73152"/>
          </a:xfrm>
          <a:prstGeom prst="ellipse">
            <a:avLst/>
          </a:prstGeom>
          <a:solidFill>
            <a:srgbClr val="D7DDE2">
              <a:alpha val="80000"/>
            </a:srgbClr>
          </a:solidFill>
          <a:ln w="12700">
            <a:solidFill>
              <a:srgbClr val="D7DDE2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250424" y="1472184"/>
            <a:ext cx="73152" cy="73152"/>
          </a:xfrm>
          <a:prstGeom prst="ellipse">
            <a:avLst/>
          </a:prstGeom>
          <a:solidFill>
            <a:srgbClr val="D7DDE2">
              <a:alpha val="80000"/>
            </a:srgbClr>
          </a:solidFill>
          <a:ln w="12700">
            <a:solidFill>
              <a:srgbClr val="D7DDE2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439144" y="1106424"/>
            <a:ext cx="73152" cy="73152"/>
          </a:xfrm>
          <a:prstGeom prst="ellipse">
            <a:avLst/>
          </a:prstGeom>
          <a:solidFill>
            <a:srgbClr val="D7DDE2">
              <a:alpha val="80000"/>
            </a:srgbClr>
          </a:solidFill>
          <a:ln w="12700">
            <a:solidFill>
              <a:srgbClr val="D7DDE2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741664" y="2112264"/>
            <a:ext cx="73152" cy="73152"/>
          </a:xfrm>
          <a:prstGeom prst="ellipse">
            <a:avLst/>
          </a:prstGeom>
          <a:solidFill>
            <a:srgbClr val="D7DDE2">
              <a:alpha val="80000"/>
            </a:srgbClr>
          </a:solidFill>
          <a:ln w="12700">
            <a:solidFill>
              <a:srgbClr val="D7DDE2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793224" y="1837944"/>
            <a:ext cx="73152" cy="73152"/>
          </a:xfrm>
          <a:prstGeom prst="ellipse">
            <a:avLst/>
          </a:prstGeom>
          <a:solidFill>
            <a:srgbClr val="D7DDE2">
              <a:alpha val="80000"/>
            </a:srgbClr>
          </a:solidFill>
          <a:ln w="12700">
            <a:solidFill>
              <a:srgbClr val="D7DDE2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027664" y="2295144"/>
            <a:ext cx="73152" cy="73152"/>
          </a:xfrm>
          <a:prstGeom prst="ellipse">
            <a:avLst/>
          </a:prstGeom>
          <a:solidFill>
            <a:srgbClr val="D7DDE2">
              <a:alpha val="80000"/>
            </a:srgbClr>
          </a:solidFill>
          <a:ln w="12700">
            <a:solidFill>
              <a:srgbClr val="D7DDE2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" y="384048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Dataset Pre-processing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621792" y="89611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E6A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Cleaning, splitting and accelerating the training pipeline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94360" y="1133856"/>
            <a:ext cx="10835640" cy="0"/>
          </a:xfrm>
          <a:prstGeom prst="line">
            <a:avLst/>
          </a:prstGeom>
          <a:noFill/>
          <a:ln w="15240">
            <a:solidFill>
              <a:srgbClr val="1E1E1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6364224"/>
            <a:ext cx="5074920" cy="384048"/>
          </a:xfrm>
          <a:prstGeom prst="parallelogram">
            <a:avLst/>
          </a:prstGeom>
          <a:solidFill>
            <a:srgbClr val="B7D0DC"/>
          </a:solidFill>
          <a:ln w="12700">
            <a:solidFill>
              <a:srgbClr val="B7D0DC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1722608" y="651967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822960" y="1600200"/>
            <a:ext cx="1572768" cy="749808"/>
          </a:xfrm>
          <a:prstGeom prst="roundRect">
            <a:avLst>
              <a:gd name="adj" fmla="val 9756"/>
            </a:avLst>
          </a:prstGeom>
          <a:solidFill>
            <a:srgbClr val="DDECF2"/>
          </a:solidFill>
          <a:ln w="12700">
            <a:solidFill>
              <a:srgbClr val="0D2A3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68680" y="1709928"/>
            <a:ext cx="1481328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Raw ISIC-2019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25,331 images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2432304" y="1975104"/>
            <a:ext cx="292608" cy="0"/>
          </a:xfrm>
          <a:prstGeom prst="line">
            <a:avLst/>
          </a:prstGeom>
          <a:noFill/>
          <a:ln w="20320">
            <a:solidFill>
              <a:srgbClr val="5E6A73"/>
            </a:solidFill>
            <a:prstDash val="solid"/>
            <a:headEnd type="none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2788920" y="1600200"/>
            <a:ext cx="1572768" cy="749808"/>
          </a:xfrm>
          <a:prstGeom prst="roundRect">
            <a:avLst>
              <a:gd name="adj" fmla="val 9756"/>
            </a:avLst>
          </a:prstGeom>
          <a:solidFill>
            <a:srgbClr val="FFF4F1"/>
          </a:solidFill>
          <a:ln w="12700">
            <a:solidFill>
              <a:srgbClr val="C95E5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834640" y="1709928"/>
            <a:ext cx="1481328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pHash near-duplicate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removal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4398264" y="1975104"/>
            <a:ext cx="429768" cy="0"/>
          </a:xfrm>
          <a:prstGeom prst="line">
            <a:avLst/>
          </a:prstGeom>
          <a:noFill/>
          <a:ln w="20320">
            <a:solidFill>
              <a:srgbClr val="5E6A73"/>
            </a:solidFill>
            <a:prstDash val="solid"/>
            <a:headEnd type="none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4892040" y="1600200"/>
            <a:ext cx="1572768" cy="749808"/>
          </a:xfrm>
          <a:prstGeom prst="roundRect">
            <a:avLst>
              <a:gd name="adj" fmla="val 9756"/>
            </a:avLst>
          </a:prstGeom>
          <a:solidFill>
            <a:srgbClr val="F2F1FA"/>
          </a:solidFill>
          <a:ln w="12700">
            <a:solidFill>
              <a:srgbClr val="8367C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37760" y="1709928"/>
            <a:ext cx="1481328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Lesion-grouped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stratified split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6501384" y="1975104"/>
            <a:ext cx="521208" cy="0"/>
          </a:xfrm>
          <a:prstGeom prst="line">
            <a:avLst/>
          </a:prstGeom>
          <a:noFill/>
          <a:ln w="20320">
            <a:solidFill>
              <a:srgbClr val="5E6A73"/>
            </a:solidFill>
            <a:prstDash val="solid"/>
            <a:headEnd type="none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7086600" y="1600200"/>
            <a:ext cx="1572768" cy="749808"/>
          </a:xfrm>
          <a:prstGeom prst="roundRect">
            <a:avLst>
              <a:gd name="adj" fmla="val 9756"/>
            </a:avLst>
          </a:prstGeom>
          <a:solidFill>
            <a:srgbClr val="EFF8F5"/>
          </a:solidFill>
          <a:ln w="12700">
            <a:solidFill>
              <a:srgbClr val="2BA4A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132320" y="1709928"/>
            <a:ext cx="1481328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Colour constancy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224 x 224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8695944" y="1975104"/>
            <a:ext cx="521208" cy="0"/>
          </a:xfrm>
          <a:prstGeom prst="line">
            <a:avLst/>
          </a:prstGeom>
          <a:noFill/>
          <a:ln w="20320">
            <a:solidFill>
              <a:srgbClr val="5E6A73"/>
            </a:solidFill>
            <a:prstDash val="solid"/>
            <a:headEnd type="none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9281160" y="1600200"/>
            <a:ext cx="1572768" cy="749808"/>
          </a:xfrm>
          <a:prstGeom prst="roundRect">
            <a:avLst>
              <a:gd name="adj" fmla="val 9756"/>
            </a:avLst>
          </a:prstGeom>
          <a:solidFill>
            <a:srgbClr val="F7F0E8"/>
          </a:solidFill>
          <a:ln w="12700">
            <a:solidFill>
              <a:srgbClr val="D99B5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326880" y="1709928"/>
            <a:ext cx="1481328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Memory-mapped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training array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1051560" y="3154680"/>
            <a:ext cx="1783080" cy="868680"/>
          </a:xfrm>
          <a:prstGeom prst="roundRect">
            <a:avLst>
              <a:gd name="adj" fmla="val 8421"/>
            </a:avLst>
          </a:prstGeom>
          <a:solidFill>
            <a:srgbClr val="F4F8FA"/>
          </a:solidFill>
          <a:ln w="12700">
            <a:solidFill>
              <a:srgbClr val="B7D0D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124712" y="3264408"/>
            <a:ext cx="1636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5E5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1,263</a:t>
            </a:r>
            <a:endParaRPr lang="en-US" sz="2000" dirty="0"/>
          </a:p>
        </p:txBody>
      </p:sp>
      <p:sp>
        <p:nvSpPr>
          <p:cNvPr id="51" name="Text 49"/>
          <p:cNvSpPr/>
          <p:nvPr/>
        </p:nvSpPr>
        <p:spPr>
          <a:xfrm>
            <a:off x="1124712" y="3721608"/>
            <a:ext cx="1636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E6A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Near-duplicates removed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3291840" y="3154680"/>
            <a:ext cx="1783080" cy="868680"/>
          </a:xfrm>
          <a:prstGeom prst="roundRect">
            <a:avLst>
              <a:gd name="adj" fmla="val 8421"/>
            </a:avLst>
          </a:prstGeom>
          <a:solidFill>
            <a:srgbClr val="F4F8FA"/>
          </a:solidFill>
          <a:ln w="12700">
            <a:solidFill>
              <a:srgbClr val="B7D0D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364992" y="3264408"/>
            <a:ext cx="1636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2A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24,068</a:t>
            </a:r>
            <a:endParaRPr lang="en-US" sz="2000" dirty="0"/>
          </a:p>
        </p:txBody>
      </p:sp>
      <p:sp>
        <p:nvSpPr>
          <p:cNvPr id="54" name="Text 52"/>
          <p:cNvSpPr/>
          <p:nvPr/>
        </p:nvSpPr>
        <p:spPr>
          <a:xfrm>
            <a:off x="3364992" y="3721608"/>
            <a:ext cx="1636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E6A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Unique images left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5532120" y="3154680"/>
            <a:ext cx="1783080" cy="868680"/>
          </a:xfrm>
          <a:prstGeom prst="roundRect">
            <a:avLst>
              <a:gd name="adj" fmla="val 8421"/>
            </a:avLst>
          </a:prstGeom>
          <a:solidFill>
            <a:srgbClr val="F4F8FA"/>
          </a:solidFill>
          <a:ln w="12700">
            <a:solidFill>
              <a:srgbClr val="B7D0D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605272" y="3264408"/>
            <a:ext cx="1636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BA4A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70/10/20</a:t>
            </a:r>
            <a:endParaRPr lang="en-US" sz="2000" dirty="0"/>
          </a:p>
        </p:txBody>
      </p:sp>
      <p:sp>
        <p:nvSpPr>
          <p:cNvPr id="57" name="Text 55"/>
          <p:cNvSpPr/>
          <p:nvPr/>
        </p:nvSpPr>
        <p:spPr>
          <a:xfrm>
            <a:off x="5605272" y="3721608"/>
            <a:ext cx="1636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E6A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 / val / test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7772400" y="3154680"/>
            <a:ext cx="1783080" cy="868680"/>
          </a:xfrm>
          <a:prstGeom prst="roundRect">
            <a:avLst>
              <a:gd name="adj" fmla="val 8421"/>
            </a:avLst>
          </a:prstGeom>
          <a:solidFill>
            <a:srgbClr val="F4F8FA"/>
          </a:solidFill>
          <a:ln w="12700">
            <a:solidFill>
              <a:srgbClr val="B7D0DC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845552" y="3264408"/>
            <a:ext cx="1636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99B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16GB</a:t>
            </a:r>
            <a:endParaRPr lang="en-US" sz="2000" dirty="0"/>
          </a:p>
        </p:txBody>
      </p:sp>
      <p:sp>
        <p:nvSpPr>
          <p:cNvPr id="60" name="Text 58"/>
          <p:cNvSpPr/>
          <p:nvPr/>
        </p:nvSpPr>
        <p:spPr>
          <a:xfrm>
            <a:off x="7845552" y="3721608"/>
            <a:ext cx="1636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E6A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GPU constraint</a:t>
            </a:r>
            <a:endParaRPr lang="en-US" sz="950" dirty="0"/>
          </a:p>
        </p:txBody>
      </p:sp>
      <p:graphicFrame>
        <p:nvGraphicFramePr>
          <p:cNvPr id="6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738360" y="2926080"/>
          <a:ext cx="1783080" cy="1508760"/>
        </p:xfrm>
        <a:graphic>
          <a:graphicData uri="http://schemas.openxmlformats.org/drawingml/2006/table">
            <a:tbl>
              <a:tblPr/>
              <a:tblGrid>
                <a:gridCol w="960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719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7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Split</a:t>
                      </a:r>
                      <a:endParaRPr lang="en-US" sz="10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7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Images</a:t>
                      </a:r>
                      <a:endParaRPr lang="en-US" sz="10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19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20" dirty="0">
                          <a:solidFill>
                            <a:srgbClr val="1F29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Training</a:t>
                      </a:r>
                      <a:endParaRPr lang="en-US" sz="10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20" dirty="0">
                          <a:solidFill>
                            <a:srgbClr val="1F29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16,872</a:t>
                      </a:r>
                      <a:endParaRPr lang="en-US" sz="10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719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20" dirty="0">
                          <a:solidFill>
                            <a:srgbClr val="1F29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Validation</a:t>
                      </a:r>
                      <a:endParaRPr lang="en-US" sz="10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20" dirty="0">
                          <a:solidFill>
                            <a:srgbClr val="1F29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2,400</a:t>
                      </a:r>
                      <a:endParaRPr lang="en-US" sz="10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719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20" dirty="0">
                          <a:solidFill>
                            <a:srgbClr val="1F29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Test</a:t>
                      </a:r>
                      <a:endParaRPr lang="en-US" sz="10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20" dirty="0">
                          <a:solidFill>
                            <a:srgbClr val="1F29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4,796</a:t>
                      </a:r>
                      <a:endParaRPr lang="en-US" sz="10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2" name="Text 59"/>
          <p:cNvSpPr/>
          <p:nvPr/>
        </p:nvSpPr>
        <p:spPr>
          <a:xfrm>
            <a:off x="960120" y="4800600"/>
            <a:ext cx="10149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reason: removing duplicate lesions before splitting prevents train-test leakage.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43800" y="45720"/>
            <a:ext cx="1097280" cy="36576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41080" y="411480"/>
            <a:ext cx="1143000" cy="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784080" y="91440"/>
            <a:ext cx="1051560" cy="54864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35640" y="640080"/>
            <a:ext cx="1005840" cy="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41080" y="411480"/>
            <a:ext cx="0" cy="82296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183880" y="1234440"/>
            <a:ext cx="1097280" cy="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281160" y="1005840"/>
            <a:ext cx="1005840" cy="50292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287000" y="1508760"/>
            <a:ext cx="1188720" cy="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183880" y="1234440"/>
            <a:ext cx="594360" cy="91440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778240" y="2148840"/>
            <a:ext cx="1051560" cy="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829800" y="1874520"/>
            <a:ext cx="1234440" cy="45720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281160" y="1005840"/>
            <a:ext cx="548640" cy="86868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835640" y="640080"/>
            <a:ext cx="640080" cy="50292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475720" y="1143000"/>
            <a:ext cx="0" cy="118872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784080" y="91440"/>
            <a:ext cx="0" cy="91440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507224" y="9144"/>
            <a:ext cx="73152" cy="73152"/>
          </a:xfrm>
          <a:prstGeom prst="ellipse">
            <a:avLst/>
          </a:prstGeom>
          <a:solidFill>
            <a:srgbClr val="D7DDE2">
              <a:alpha val="80000"/>
            </a:srgbClr>
          </a:solidFill>
          <a:ln w="12700">
            <a:solidFill>
              <a:srgbClr val="D7DDE2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604504" y="374904"/>
            <a:ext cx="73152" cy="73152"/>
          </a:xfrm>
          <a:prstGeom prst="ellipse">
            <a:avLst/>
          </a:prstGeom>
          <a:solidFill>
            <a:srgbClr val="D7DDE2">
              <a:alpha val="80000"/>
            </a:srgbClr>
          </a:solidFill>
          <a:ln w="12700">
            <a:solidFill>
              <a:srgbClr val="D7DDE2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747504" y="54864"/>
            <a:ext cx="73152" cy="73152"/>
          </a:xfrm>
          <a:prstGeom prst="ellipse">
            <a:avLst/>
          </a:prstGeom>
          <a:solidFill>
            <a:srgbClr val="D7DDE2">
              <a:alpha val="80000"/>
            </a:srgbClr>
          </a:solidFill>
          <a:ln w="12700">
            <a:solidFill>
              <a:srgbClr val="D7DDE2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799064" y="603504"/>
            <a:ext cx="73152" cy="73152"/>
          </a:xfrm>
          <a:prstGeom prst="ellipse">
            <a:avLst/>
          </a:prstGeom>
          <a:solidFill>
            <a:srgbClr val="D7DDE2">
              <a:alpha val="80000"/>
            </a:srgbClr>
          </a:solidFill>
          <a:ln w="12700">
            <a:solidFill>
              <a:srgbClr val="D7DDE2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804904" y="146304"/>
            <a:ext cx="73152" cy="73152"/>
          </a:xfrm>
          <a:prstGeom prst="ellipse">
            <a:avLst/>
          </a:prstGeom>
          <a:solidFill>
            <a:srgbClr val="D7DDE2">
              <a:alpha val="80000"/>
            </a:srgbClr>
          </a:solidFill>
          <a:ln w="12700">
            <a:solidFill>
              <a:srgbClr val="D7DDE2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147304" y="1197864"/>
            <a:ext cx="73152" cy="73152"/>
          </a:xfrm>
          <a:prstGeom prst="ellipse">
            <a:avLst/>
          </a:prstGeom>
          <a:solidFill>
            <a:srgbClr val="D7DDE2">
              <a:alpha val="80000"/>
            </a:srgbClr>
          </a:solidFill>
          <a:ln w="12700">
            <a:solidFill>
              <a:srgbClr val="D7DDE2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244584" y="969264"/>
            <a:ext cx="73152" cy="73152"/>
          </a:xfrm>
          <a:prstGeom prst="ellipse">
            <a:avLst/>
          </a:prstGeom>
          <a:solidFill>
            <a:srgbClr val="D7DDE2">
              <a:alpha val="80000"/>
            </a:srgbClr>
          </a:solidFill>
          <a:ln w="12700">
            <a:solidFill>
              <a:srgbClr val="D7DDE2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250424" y="1472184"/>
            <a:ext cx="73152" cy="73152"/>
          </a:xfrm>
          <a:prstGeom prst="ellipse">
            <a:avLst/>
          </a:prstGeom>
          <a:solidFill>
            <a:srgbClr val="D7DDE2">
              <a:alpha val="80000"/>
            </a:srgbClr>
          </a:solidFill>
          <a:ln w="12700">
            <a:solidFill>
              <a:srgbClr val="D7DDE2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439144" y="1106424"/>
            <a:ext cx="73152" cy="73152"/>
          </a:xfrm>
          <a:prstGeom prst="ellipse">
            <a:avLst/>
          </a:prstGeom>
          <a:solidFill>
            <a:srgbClr val="D7DDE2">
              <a:alpha val="80000"/>
            </a:srgbClr>
          </a:solidFill>
          <a:ln w="12700">
            <a:solidFill>
              <a:srgbClr val="D7DDE2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741664" y="2112264"/>
            <a:ext cx="73152" cy="73152"/>
          </a:xfrm>
          <a:prstGeom prst="ellipse">
            <a:avLst/>
          </a:prstGeom>
          <a:solidFill>
            <a:srgbClr val="D7DDE2">
              <a:alpha val="80000"/>
            </a:srgbClr>
          </a:solidFill>
          <a:ln w="12700">
            <a:solidFill>
              <a:srgbClr val="D7DDE2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793224" y="1837944"/>
            <a:ext cx="73152" cy="73152"/>
          </a:xfrm>
          <a:prstGeom prst="ellipse">
            <a:avLst/>
          </a:prstGeom>
          <a:solidFill>
            <a:srgbClr val="D7DDE2">
              <a:alpha val="80000"/>
            </a:srgbClr>
          </a:solidFill>
          <a:ln w="12700">
            <a:solidFill>
              <a:srgbClr val="D7DDE2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027664" y="2295144"/>
            <a:ext cx="73152" cy="73152"/>
          </a:xfrm>
          <a:prstGeom prst="ellipse">
            <a:avLst/>
          </a:prstGeom>
          <a:solidFill>
            <a:srgbClr val="D7DDE2">
              <a:alpha val="80000"/>
            </a:srgbClr>
          </a:solidFill>
          <a:ln w="12700">
            <a:solidFill>
              <a:srgbClr val="D7DDE2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" y="384048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Proposed Framework Overview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621792" y="89611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E6A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design philosophy at two capacity points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94360" y="1133856"/>
            <a:ext cx="10835640" cy="0"/>
          </a:xfrm>
          <a:prstGeom prst="line">
            <a:avLst/>
          </a:prstGeom>
          <a:noFill/>
          <a:ln w="15240">
            <a:solidFill>
              <a:srgbClr val="1E1E1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6364224"/>
            <a:ext cx="5074920" cy="384048"/>
          </a:xfrm>
          <a:prstGeom prst="parallelogram">
            <a:avLst/>
          </a:prstGeom>
          <a:solidFill>
            <a:srgbClr val="B7D0DC"/>
          </a:solidFill>
          <a:ln w="12700">
            <a:solidFill>
              <a:srgbClr val="B7D0DC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1722608" y="651967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1100" dirty="0"/>
          </a:p>
        </p:txBody>
      </p:sp>
      <p:pic>
        <p:nvPicPr>
          <p:cNvPr id="35" name="Image 0" descr="/mnt/data/wide_clean_infographic_diagram_on_a_white_backgrou_batch_2.png"/>
          <p:cNvPicPr>
            <a:picLocks noChangeAspect="1"/>
          </p:cNvPicPr>
          <p:nvPr/>
        </p:nvPicPr>
        <p:blipFill>
          <a:blip r:embed="rId3"/>
          <a:srcRect l="3587" r="3587"/>
          <a:stretch/>
        </p:blipFill>
        <p:spPr>
          <a:xfrm>
            <a:off x="713232" y="1417320"/>
            <a:ext cx="5806440" cy="3520440"/>
          </a:xfrm>
          <a:prstGeom prst="rect">
            <a:avLst/>
          </a:prstGeom>
        </p:spPr>
      </p:pic>
      <p:sp>
        <p:nvSpPr>
          <p:cNvPr id="36" name="Shape 33"/>
          <p:cNvSpPr/>
          <p:nvPr/>
        </p:nvSpPr>
        <p:spPr>
          <a:xfrm>
            <a:off x="713232" y="1417320"/>
            <a:ext cx="5806440" cy="35204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7DDE2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903720" y="1572768"/>
            <a:ext cx="4526280" cy="2423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68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CNN stem extracts robust local texture features.</a:t>
            </a:r>
            <a:endParaRPr lang="en-US" sz="1680" dirty="0"/>
          </a:p>
          <a:p>
            <a:pPr marL="127000" indent="-127000">
              <a:buSzPct val="100000"/>
              <a:buChar char="•"/>
            </a:pPr>
            <a:r>
              <a:rPr lang="en-US" sz="168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Transformer trunk models global lesion structure.</a:t>
            </a:r>
            <a:endParaRPr lang="en-US" sz="1680" dirty="0"/>
          </a:p>
          <a:p>
            <a:pPr marL="127000" indent="-127000">
              <a:buSzPct val="100000"/>
              <a:buChar char="•"/>
            </a:pPr>
            <a:r>
              <a:rPr lang="en-US" sz="168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Metadata cross-attention folds in age, sex and site.</a:t>
            </a:r>
            <a:endParaRPr lang="en-US" sz="1680" dirty="0"/>
          </a:p>
          <a:p>
            <a:pPr marL="127000" indent="-127000">
              <a:buSzPct val="100000"/>
              <a:buChar char="•"/>
            </a:pPr>
            <a:r>
              <a:rPr lang="en-US" sz="168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Two tiers: compact deployment model and accuracy-focused DEKAN.</a:t>
            </a:r>
            <a:endParaRPr lang="en-US" sz="1680" dirty="0"/>
          </a:p>
        </p:txBody>
      </p:sp>
      <p:sp>
        <p:nvSpPr>
          <p:cNvPr id="38" name="Shape 35"/>
          <p:cNvSpPr/>
          <p:nvPr/>
        </p:nvSpPr>
        <p:spPr>
          <a:xfrm>
            <a:off x="7132320" y="4206240"/>
            <a:ext cx="1234440" cy="777240"/>
          </a:xfrm>
          <a:prstGeom prst="roundRect">
            <a:avLst>
              <a:gd name="adj" fmla="val 9412"/>
            </a:avLst>
          </a:prstGeom>
          <a:solidFill>
            <a:srgbClr val="F4F8FA"/>
          </a:solidFill>
          <a:ln w="12700">
            <a:solidFill>
              <a:srgbClr val="B7D0DC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7205472" y="4315968"/>
            <a:ext cx="1088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BA4A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CNN</a:t>
            </a:r>
            <a:endParaRPr lang="en-US" sz="2000" dirty="0"/>
          </a:p>
        </p:txBody>
      </p:sp>
      <p:sp>
        <p:nvSpPr>
          <p:cNvPr id="40" name="Text 37"/>
          <p:cNvSpPr/>
          <p:nvPr/>
        </p:nvSpPr>
        <p:spPr>
          <a:xfrm>
            <a:off x="7205472" y="4773168"/>
            <a:ext cx="1088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E6A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texture</a:t>
            </a:r>
            <a:endParaRPr lang="en-US" sz="950" dirty="0"/>
          </a:p>
        </p:txBody>
      </p:sp>
      <p:sp>
        <p:nvSpPr>
          <p:cNvPr id="41" name="Shape 38"/>
          <p:cNvSpPr/>
          <p:nvPr/>
        </p:nvSpPr>
        <p:spPr>
          <a:xfrm>
            <a:off x="8732520" y="4206240"/>
            <a:ext cx="1234440" cy="777240"/>
          </a:xfrm>
          <a:prstGeom prst="roundRect">
            <a:avLst>
              <a:gd name="adj" fmla="val 9412"/>
            </a:avLst>
          </a:prstGeom>
          <a:solidFill>
            <a:srgbClr val="F4F8FA"/>
          </a:solidFill>
          <a:ln w="12700">
            <a:solidFill>
              <a:srgbClr val="B7D0DC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8805672" y="4315968"/>
            <a:ext cx="1088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367C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ViT</a:t>
            </a:r>
            <a:endParaRPr lang="en-US" sz="2000" dirty="0"/>
          </a:p>
        </p:txBody>
      </p:sp>
      <p:sp>
        <p:nvSpPr>
          <p:cNvPr id="43" name="Text 40"/>
          <p:cNvSpPr/>
          <p:nvPr/>
        </p:nvSpPr>
        <p:spPr>
          <a:xfrm>
            <a:off x="8805672" y="4773168"/>
            <a:ext cx="1088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E6A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Global shape</a:t>
            </a:r>
            <a:endParaRPr lang="en-US" sz="950" dirty="0"/>
          </a:p>
        </p:txBody>
      </p:sp>
      <p:sp>
        <p:nvSpPr>
          <p:cNvPr id="44" name="Shape 41"/>
          <p:cNvSpPr/>
          <p:nvPr/>
        </p:nvSpPr>
        <p:spPr>
          <a:xfrm>
            <a:off x="10332720" y="4206240"/>
            <a:ext cx="1234440" cy="777240"/>
          </a:xfrm>
          <a:prstGeom prst="roundRect">
            <a:avLst>
              <a:gd name="adj" fmla="val 9412"/>
            </a:avLst>
          </a:prstGeom>
          <a:solidFill>
            <a:srgbClr val="F4F8FA"/>
          </a:solidFill>
          <a:ln w="12700">
            <a:solidFill>
              <a:srgbClr val="B7D0DC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10405872" y="4315968"/>
            <a:ext cx="1088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99B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Meta</a:t>
            </a:r>
            <a:endParaRPr lang="en-US" sz="2000" dirty="0"/>
          </a:p>
        </p:txBody>
      </p:sp>
      <p:sp>
        <p:nvSpPr>
          <p:cNvPr id="46" name="Text 43"/>
          <p:cNvSpPr/>
          <p:nvPr/>
        </p:nvSpPr>
        <p:spPr>
          <a:xfrm>
            <a:off x="10405872" y="4773168"/>
            <a:ext cx="1088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E6A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Clinical context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43800" y="45720"/>
            <a:ext cx="1097280" cy="36576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41080" y="411480"/>
            <a:ext cx="1143000" cy="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784080" y="91440"/>
            <a:ext cx="1051560" cy="54864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35640" y="640080"/>
            <a:ext cx="1005840" cy="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41080" y="411480"/>
            <a:ext cx="0" cy="82296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183880" y="1234440"/>
            <a:ext cx="1097280" cy="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281160" y="1005840"/>
            <a:ext cx="1005840" cy="50292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287000" y="1508760"/>
            <a:ext cx="1188720" cy="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183880" y="1234440"/>
            <a:ext cx="594360" cy="91440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778240" y="2148840"/>
            <a:ext cx="1051560" cy="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829800" y="1874520"/>
            <a:ext cx="1234440" cy="45720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281160" y="1005840"/>
            <a:ext cx="548640" cy="86868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835640" y="640080"/>
            <a:ext cx="640080" cy="50292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475720" y="1143000"/>
            <a:ext cx="0" cy="118872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784080" y="91440"/>
            <a:ext cx="0" cy="91440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507224" y="9144"/>
            <a:ext cx="73152" cy="73152"/>
          </a:xfrm>
          <a:prstGeom prst="ellipse">
            <a:avLst/>
          </a:prstGeom>
          <a:solidFill>
            <a:srgbClr val="D7DDE2">
              <a:alpha val="80000"/>
            </a:srgbClr>
          </a:solidFill>
          <a:ln w="12700">
            <a:solidFill>
              <a:srgbClr val="D7DDE2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604504" y="374904"/>
            <a:ext cx="73152" cy="73152"/>
          </a:xfrm>
          <a:prstGeom prst="ellipse">
            <a:avLst/>
          </a:prstGeom>
          <a:solidFill>
            <a:srgbClr val="D7DDE2">
              <a:alpha val="80000"/>
            </a:srgbClr>
          </a:solidFill>
          <a:ln w="12700">
            <a:solidFill>
              <a:srgbClr val="D7DDE2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747504" y="54864"/>
            <a:ext cx="73152" cy="73152"/>
          </a:xfrm>
          <a:prstGeom prst="ellipse">
            <a:avLst/>
          </a:prstGeom>
          <a:solidFill>
            <a:srgbClr val="D7DDE2">
              <a:alpha val="80000"/>
            </a:srgbClr>
          </a:solidFill>
          <a:ln w="12700">
            <a:solidFill>
              <a:srgbClr val="D7DDE2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799064" y="603504"/>
            <a:ext cx="73152" cy="73152"/>
          </a:xfrm>
          <a:prstGeom prst="ellipse">
            <a:avLst/>
          </a:prstGeom>
          <a:solidFill>
            <a:srgbClr val="D7DDE2">
              <a:alpha val="80000"/>
            </a:srgbClr>
          </a:solidFill>
          <a:ln w="12700">
            <a:solidFill>
              <a:srgbClr val="D7DDE2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804904" y="146304"/>
            <a:ext cx="73152" cy="73152"/>
          </a:xfrm>
          <a:prstGeom prst="ellipse">
            <a:avLst/>
          </a:prstGeom>
          <a:solidFill>
            <a:srgbClr val="D7DDE2">
              <a:alpha val="80000"/>
            </a:srgbClr>
          </a:solidFill>
          <a:ln w="12700">
            <a:solidFill>
              <a:srgbClr val="D7DDE2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147304" y="1197864"/>
            <a:ext cx="73152" cy="73152"/>
          </a:xfrm>
          <a:prstGeom prst="ellipse">
            <a:avLst/>
          </a:prstGeom>
          <a:solidFill>
            <a:srgbClr val="D7DDE2">
              <a:alpha val="80000"/>
            </a:srgbClr>
          </a:solidFill>
          <a:ln w="12700">
            <a:solidFill>
              <a:srgbClr val="D7DDE2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244584" y="969264"/>
            <a:ext cx="73152" cy="73152"/>
          </a:xfrm>
          <a:prstGeom prst="ellipse">
            <a:avLst/>
          </a:prstGeom>
          <a:solidFill>
            <a:srgbClr val="D7DDE2">
              <a:alpha val="80000"/>
            </a:srgbClr>
          </a:solidFill>
          <a:ln w="12700">
            <a:solidFill>
              <a:srgbClr val="D7DDE2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250424" y="1472184"/>
            <a:ext cx="73152" cy="73152"/>
          </a:xfrm>
          <a:prstGeom prst="ellipse">
            <a:avLst/>
          </a:prstGeom>
          <a:solidFill>
            <a:srgbClr val="D7DDE2">
              <a:alpha val="80000"/>
            </a:srgbClr>
          </a:solidFill>
          <a:ln w="12700">
            <a:solidFill>
              <a:srgbClr val="D7DDE2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439144" y="1106424"/>
            <a:ext cx="73152" cy="73152"/>
          </a:xfrm>
          <a:prstGeom prst="ellipse">
            <a:avLst/>
          </a:prstGeom>
          <a:solidFill>
            <a:srgbClr val="D7DDE2">
              <a:alpha val="80000"/>
            </a:srgbClr>
          </a:solidFill>
          <a:ln w="12700">
            <a:solidFill>
              <a:srgbClr val="D7DDE2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741664" y="2112264"/>
            <a:ext cx="73152" cy="73152"/>
          </a:xfrm>
          <a:prstGeom prst="ellipse">
            <a:avLst/>
          </a:prstGeom>
          <a:solidFill>
            <a:srgbClr val="D7DDE2">
              <a:alpha val="80000"/>
            </a:srgbClr>
          </a:solidFill>
          <a:ln w="12700">
            <a:solidFill>
              <a:srgbClr val="D7DDE2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793224" y="1837944"/>
            <a:ext cx="73152" cy="73152"/>
          </a:xfrm>
          <a:prstGeom prst="ellipse">
            <a:avLst/>
          </a:prstGeom>
          <a:solidFill>
            <a:srgbClr val="D7DDE2">
              <a:alpha val="80000"/>
            </a:srgbClr>
          </a:solidFill>
          <a:ln w="12700">
            <a:solidFill>
              <a:srgbClr val="D7DDE2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027664" y="2295144"/>
            <a:ext cx="73152" cy="73152"/>
          </a:xfrm>
          <a:prstGeom prst="ellipse">
            <a:avLst/>
          </a:prstGeom>
          <a:solidFill>
            <a:srgbClr val="D7DDE2">
              <a:alpha val="80000"/>
            </a:srgbClr>
          </a:solidFill>
          <a:ln w="12700">
            <a:solidFill>
              <a:srgbClr val="D7DDE2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" y="384048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Lightweight Hybrid CNN-Transformer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621792" y="89611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E6A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Compact model designed for constrained deployment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94360" y="1133856"/>
            <a:ext cx="10835640" cy="0"/>
          </a:xfrm>
          <a:prstGeom prst="line">
            <a:avLst/>
          </a:prstGeom>
          <a:noFill/>
          <a:ln w="15240">
            <a:solidFill>
              <a:srgbClr val="1E1E1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6364224"/>
            <a:ext cx="5074920" cy="384048"/>
          </a:xfrm>
          <a:prstGeom prst="parallelogram">
            <a:avLst/>
          </a:prstGeom>
          <a:solidFill>
            <a:srgbClr val="B7D0DC"/>
          </a:solidFill>
          <a:ln w="12700">
            <a:solidFill>
              <a:srgbClr val="B7D0DC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1722608" y="651967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31520" y="1417320"/>
            <a:ext cx="1143000" cy="658368"/>
          </a:xfrm>
          <a:prstGeom prst="roundRect">
            <a:avLst>
              <a:gd name="adj" fmla="val 11111"/>
            </a:avLst>
          </a:prstGeom>
          <a:solidFill>
            <a:srgbClr val="F4F8FA"/>
          </a:solidFill>
          <a:ln w="12700">
            <a:solidFill>
              <a:srgbClr val="0D2A3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77240" y="1527048"/>
            <a:ext cx="1051560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Image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3x224x224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1892808" y="1746504"/>
            <a:ext cx="274320" cy="0"/>
          </a:xfrm>
          <a:prstGeom prst="line">
            <a:avLst/>
          </a:prstGeom>
          <a:noFill/>
          <a:ln w="20320">
            <a:solidFill>
              <a:srgbClr val="5E6A73"/>
            </a:solidFill>
            <a:prstDash val="solid"/>
            <a:headEnd type="none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2240280" y="1417320"/>
            <a:ext cx="1143000" cy="658368"/>
          </a:xfrm>
          <a:prstGeom prst="roundRect">
            <a:avLst>
              <a:gd name="adj" fmla="val 11111"/>
            </a:avLst>
          </a:prstGeom>
          <a:solidFill>
            <a:srgbClr val="DDECF2"/>
          </a:solidFill>
          <a:ln w="12700">
            <a:solidFill>
              <a:srgbClr val="0D2A3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286000" y="1527048"/>
            <a:ext cx="1051560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MobileNetV2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stem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3401568" y="1746504"/>
            <a:ext cx="320040" cy="0"/>
          </a:xfrm>
          <a:prstGeom prst="line">
            <a:avLst/>
          </a:prstGeom>
          <a:noFill/>
          <a:ln w="20320">
            <a:solidFill>
              <a:srgbClr val="5E6A73"/>
            </a:solidFill>
            <a:prstDash val="solid"/>
            <a:headEnd type="none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3794760" y="1417320"/>
            <a:ext cx="1143000" cy="658368"/>
          </a:xfrm>
          <a:prstGeom prst="roundRect">
            <a:avLst>
              <a:gd name="adj" fmla="val 11111"/>
            </a:avLst>
          </a:prstGeom>
          <a:solidFill>
            <a:srgbClr val="DDECF2"/>
          </a:solidFill>
          <a:ln w="12700">
            <a:solidFill>
              <a:srgbClr val="0D2A3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840480" y="1527048"/>
            <a:ext cx="1051560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Patch proj.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49 tokens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4956048" y="1746504"/>
            <a:ext cx="320040" cy="0"/>
          </a:xfrm>
          <a:prstGeom prst="line">
            <a:avLst/>
          </a:prstGeom>
          <a:noFill/>
          <a:ln w="20320">
            <a:solidFill>
              <a:srgbClr val="5E6A73"/>
            </a:solidFill>
            <a:prstDash val="solid"/>
            <a:headEnd type="none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5349240" y="1417320"/>
            <a:ext cx="1143000" cy="658368"/>
          </a:xfrm>
          <a:prstGeom prst="roundRect">
            <a:avLst>
              <a:gd name="adj" fmla="val 11111"/>
            </a:avLst>
          </a:prstGeom>
          <a:solidFill>
            <a:srgbClr val="F2F1FA"/>
          </a:solidFill>
          <a:ln w="12700">
            <a:solidFill>
              <a:srgbClr val="8367C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394960" y="1527048"/>
            <a:ext cx="1051560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6-block ViT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heads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6510528" y="1746504"/>
            <a:ext cx="320040" cy="0"/>
          </a:xfrm>
          <a:prstGeom prst="line">
            <a:avLst/>
          </a:prstGeom>
          <a:noFill/>
          <a:ln w="20320">
            <a:solidFill>
              <a:srgbClr val="5E6A73"/>
            </a:solidFill>
            <a:prstDash val="solid"/>
            <a:headEnd type="none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6903720" y="1417320"/>
            <a:ext cx="1143000" cy="658368"/>
          </a:xfrm>
          <a:prstGeom prst="roundRect">
            <a:avLst>
              <a:gd name="adj" fmla="val 11111"/>
            </a:avLst>
          </a:prstGeom>
          <a:solidFill>
            <a:srgbClr val="F7F0E8"/>
          </a:solidFill>
          <a:ln w="12700">
            <a:solidFill>
              <a:srgbClr val="D99B5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949440" y="1527048"/>
            <a:ext cx="1051560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Metadata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cross-attn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8065008" y="1746504"/>
            <a:ext cx="320040" cy="0"/>
          </a:xfrm>
          <a:prstGeom prst="line">
            <a:avLst/>
          </a:prstGeom>
          <a:noFill/>
          <a:ln w="20320">
            <a:solidFill>
              <a:srgbClr val="5E6A73"/>
            </a:solidFill>
            <a:prstDash val="solid"/>
            <a:headEnd type="none"/>
            <a:tailEnd type="triangle"/>
          </a:ln>
        </p:spPr>
      </p:sp>
      <p:sp>
        <p:nvSpPr>
          <p:cNvPr id="50" name="Shape 48"/>
          <p:cNvSpPr/>
          <p:nvPr/>
        </p:nvSpPr>
        <p:spPr>
          <a:xfrm>
            <a:off x="8458200" y="1417320"/>
            <a:ext cx="1143000" cy="658368"/>
          </a:xfrm>
          <a:prstGeom prst="roundRect">
            <a:avLst>
              <a:gd name="adj" fmla="val 11111"/>
            </a:avLst>
          </a:prstGeom>
          <a:solidFill>
            <a:srgbClr val="EFF8F5"/>
          </a:solidFill>
          <a:ln w="12700">
            <a:solidFill>
              <a:srgbClr val="2BA4A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503920" y="1527048"/>
            <a:ext cx="1051560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Linear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classifier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9619488" y="1746504"/>
            <a:ext cx="320040" cy="0"/>
          </a:xfrm>
          <a:prstGeom prst="line">
            <a:avLst/>
          </a:prstGeom>
          <a:noFill/>
          <a:ln w="20320">
            <a:solidFill>
              <a:srgbClr val="5E6A73"/>
            </a:solidFill>
            <a:prstDash val="solid"/>
            <a:headEnd type="none"/>
            <a:tailEnd type="triangle"/>
          </a:ln>
        </p:spPr>
      </p:sp>
      <p:sp>
        <p:nvSpPr>
          <p:cNvPr id="53" name="Shape 51"/>
          <p:cNvSpPr/>
          <p:nvPr/>
        </p:nvSpPr>
        <p:spPr>
          <a:xfrm>
            <a:off x="10012680" y="1417320"/>
            <a:ext cx="1143000" cy="658368"/>
          </a:xfrm>
          <a:prstGeom prst="roundRect">
            <a:avLst>
              <a:gd name="adj" fmla="val 11111"/>
            </a:avLst>
          </a:prstGeom>
          <a:solidFill>
            <a:srgbClr val="F4F8FA"/>
          </a:solidFill>
          <a:ln w="12700">
            <a:solidFill>
              <a:srgbClr val="0D2A3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058400" y="1527048"/>
            <a:ext cx="1051560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classes</a:t>
            </a:r>
            <a:endParaRPr lang="en-US" sz="1150" dirty="0"/>
          </a:p>
        </p:txBody>
      </p:sp>
      <p:sp>
        <p:nvSpPr>
          <p:cNvPr id="55" name="Text 53"/>
          <p:cNvSpPr/>
          <p:nvPr/>
        </p:nvSpPr>
        <p:spPr>
          <a:xfrm>
            <a:off x="914400" y="242316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Metadata tokens: age, sex and anatomical site. Missing values use learned “missing” embeddings instead of imputation.</a:t>
            </a:r>
            <a:endParaRPr lang="en-US" sz="1450" dirty="0"/>
          </a:p>
        </p:txBody>
      </p:sp>
      <p:sp>
        <p:nvSpPr>
          <p:cNvPr id="56" name="Shape 54"/>
          <p:cNvSpPr/>
          <p:nvPr/>
        </p:nvSpPr>
        <p:spPr>
          <a:xfrm>
            <a:off x="1188720" y="3291840"/>
            <a:ext cx="1645920" cy="868680"/>
          </a:xfrm>
          <a:prstGeom prst="roundRect">
            <a:avLst>
              <a:gd name="adj" fmla="val 8421"/>
            </a:avLst>
          </a:prstGeom>
          <a:solidFill>
            <a:srgbClr val="F4F8FA"/>
          </a:solidFill>
          <a:ln w="12700">
            <a:solidFill>
              <a:srgbClr val="B7D0D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261872" y="3401568"/>
            <a:ext cx="1499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2A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3.98M</a:t>
            </a:r>
            <a:endParaRPr lang="en-US" sz="2000" dirty="0"/>
          </a:p>
        </p:txBody>
      </p:sp>
      <p:sp>
        <p:nvSpPr>
          <p:cNvPr id="58" name="Text 56"/>
          <p:cNvSpPr/>
          <p:nvPr/>
        </p:nvSpPr>
        <p:spPr>
          <a:xfrm>
            <a:off x="1261872" y="3858768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E6A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parameters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3063240" y="3291840"/>
            <a:ext cx="1645920" cy="868680"/>
          </a:xfrm>
          <a:prstGeom prst="roundRect">
            <a:avLst>
              <a:gd name="adj" fmla="val 8421"/>
            </a:avLst>
          </a:prstGeom>
          <a:solidFill>
            <a:srgbClr val="F4F8FA"/>
          </a:solidFill>
          <a:ln w="12700">
            <a:solidFill>
              <a:srgbClr val="B7D0DC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136392" y="3401568"/>
            <a:ext cx="1499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BA4A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0.631</a:t>
            </a:r>
            <a:endParaRPr lang="en-US" sz="2000" dirty="0"/>
          </a:p>
        </p:txBody>
      </p:sp>
      <p:sp>
        <p:nvSpPr>
          <p:cNvPr id="61" name="Text 59"/>
          <p:cNvSpPr/>
          <p:nvPr/>
        </p:nvSpPr>
        <p:spPr>
          <a:xfrm>
            <a:off x="3136392" y="3858768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E6A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GMACs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4937760" y="3291840"/>
            <a:ext cx="1645920" cy="868680"/>
          </a:xfrm>
          <a:prstGeom prst="roundRect">
            <a:avLst>
              <a:gd name="adj" fmla="val 8421"/>
            </a:avLst>
          </a:prstGeom>
          <a:solidFill>
            <a:srgbClr val="F4F8FA"/>
          </a:solidFill>
          <a:ln w="12700">
            <a:solidFill>
              <a:srgbClr val="B7D0DC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010912" y="3401568"/>
            <a:ext cx="1499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367C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0.6081</a:t>
            </a:r>
            <a:endParaRPr lang="en-US" sz="2000" dirty="0"/>
          </a:p>
        </p:txBody>
      </p:sp>
      <p:sp>
        <p:nvSpPr>
          <p:cNvPr id="64" name="Text 62"/>
          <p:cNvSpPr/>
          <p:nvPr/>
        </p:nvSpPr>
        <p:spPr>
          <a:xfrm>
            <a:off x="5010912" y="3858768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E6A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BMA with TTA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6812280" y="3291840"/>
            <a:ext cx="1645920" cy="868680"/>
          </a:xfrm>
          <a:prstGeom prst="roundRect">
            <a:avLst>
              <a:gd name="adj" fmla="val 8421"/>
            </a:avLst>
          </a:prstGeom>
          <a:solidFill>
            <a:srgbClr val="F4F8FA"/>
          </a:solidFill>
          <a:ln w="12700">
            <a:solidFill>
              <a:srgbClr val="B7D0DC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885432" y="3401568"/>
            <a:ext cx="1499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8B48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&lt;6M</a:t>
            </a:r>
            <a:endParaRPr lang="en-US" sz="2000" dirty="0"/>
          </a:p>
        </p:txBody>
      </p:sp>
      <p:sp>
        <p:nvSpPr>
          <p:cNvPr id="67" name="Text 65"/>
          <p:cNvSpPr/>
          <p:nvPr/>
        </p:nvSpPr>
        <p:spPr>
          <a:xfrm>
            <a:off x="6885432" y="3858768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E6A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budget met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1051560" y="4572000"/>
            <a:ext cx="9784080" cy="868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55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Truncated MobileNetV2 gives generic edge and texture features.</a:t>
            </a:r>
            <a:endParaRPr lang="en-US" sz="1550" dirty="0"/>
          </a:p>
          <a:p>
            <a:pPr marL="127000" indent="-127000">
              <a:buSzPct val="100000"/>
              <a:buChar char="•"/>
            </a:pPr>
            <a:r>
              <a:rPr lang="en-US" sz="155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Token sequence is kept small to make attention cheap.</a:t>
            </a:r>
            <a:endParaRPr lang="en-US" sz="1550" dirty="0"/>
          </a:p>
          <a:p>
            <a:pPr marL="127000" indent="-127000">
              <a:buSzPct val="100000"/>
              <a:buChar char="•"/>
            </a:pPr>
            <a:r>
              <a:rPr lang="en-US" sz="155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balanced accuracy among models under the 6M-parameter budget.</a:t>
            </a:r>
            <a:endParaRPr lang="en-US" sz="1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43800" y="45720"/>
            <a:ext cx="1097280" cy="36576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8641080" y="411480"/>
            <a:ext cx="1143000" cy="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9784080" y="91440"/>
            <a:ext cx="1051560" cy="54864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835640" y="640080"/>
            <a:ext cx="1005840" cy="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8641080" y="411480"/>
            <a:ext cx="0" cy="82296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8183880" y="1234440"/>
            <a:ext cx="1097280" cy="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9281160" y="1005840"/>
            <a:ext cx="1005840" cy="50292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10287000" y="1508760"/>
            <a:ext cx="1188720" cy="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8183880" y="1234440"/>
            <a:ext cx="594360" cy="91440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8778240" y="2148840"/>
            <a:ext cx="1051560" cy="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9829800" y="1874520"/>
            <a:ext cx="1234440" cy="45720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9281160" y="1005840"/>
            <a:ext cx="548640" cy="86868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10835640" y="640080"/>
            <a:ext cx="640080" cy="50292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11475720" y="1143000"/>
            <a:ext cx="0" cy="118872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9784080" y="91440"/>
            <a:ext cx="0" cy="91440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7507224" y="9144"/>
            <a:ext cx="73152" cy="73152"/>
          </a:xfrm>
          <a:prstGeom prst="ellipse">
            <a:avLst/>
          </a:prstGeom>
          <a:solidFill>
            <a:srgbClr val="D7DDE2">
              <a:alpha val="80000"/>
            </a:srgbClr>
          </a:solidFill>
          <a:ln w="12700">
            <a:solidFill>
              <a:srgbClr val="D7DDE2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8604504" y="374904"/>
            <a:ext cx="73152" cy="73152"/>
          </a:xfrm>
          <a:prstGeom prst="ellipse">
            <a:avLst/>
          </a:prstGeom>
          <a:solidFill>
            <a:srgbClr val="D7DDE2">
              <a:alpha val="80000"/>
            </a:srgbClr>
          </a:solidFill>
          <a:ln w="12700">
            <a:solidFill>
              <a:srgbClr val="D7DDE2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9747504" y="54864"/>
            <a:ext cx="73152" cy="73152"/>
          </a:xfrm>
          <a:prstGeom prst="ellipse">
            <a:avLst/>
          </a:prstGeom>
          <a:solidFill>
            <a:srgbClr val="D7DDE2">
              <a:alpha val="80000"/>
            </a:srgbClr>
          </a:solidFill>
          <a:ln w="12700">
            <a:solidFill>
              <a:srgbClr val="D7DDE2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10799064" y="603504"/>
            <a:ext cx="73152" cy="73152"/>
          </a:xfrm>
          <a:prstGeom prst="ellipse">
            <a:avLst/>
          </a:prstGeom>
          <a:solidFill>
            <a:srgbClr val="D7DDE2">
              <a:alpha val="80000"/>
            </a:srgbClr>
          </a:solidFill>
          <a:ln w="12700">
            <a:solidFill>
              <a:srgbClr val="D7DDE2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11804904" y="146304"/>
            <a:ext cx="73152" cy="73152"/>
          </a:xfrm>
          <a:prstGeom prst="ellipse">
            <a:avLst/>
          </a:prstGeom>
          <a:solidFill>
            <a:srgbClr val="D7DDE2">
              <a:alpha val="80000"/>
            </a:srgbClr>
          </a:solidFill>
          <a:ln w="12700">
            <a:solidFill>
              <a:srgbClr val="D7DDE2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8147304" y="1197864"/>
            <a:ext cx="73152" cy="73152"/>
          </a:xfrm>
          <a:prstGeom prst="ellipse">
            <a:avLst/>
          </a:prstGeom>
          <a:solidFill>
            <a:srgbClr val="D7DDE2">
              <a:alpha val="80000"/>
            </a:srgbClr>
          </a:solidFill>
          <a:ln w="12700">
            <a:solidFill>
              <a:srgbClr val="D7DDE2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9244584" y="969264"/>
            <a:ext cx="73152" cy="73152"/>
          </a:xfrm>
          <a:prstGeom prst="ellipse">
            <a:avLst/>
          </a:prstGeom>
          <a:solidFill>
            <a:srgbClr val="D7DDE2">
              <a:alpha val="80000"/>
            </a:srgbClr>
          </a:solidFill>
          <a:ln w="12700">
            <a:solidFill>
              <a:srgbClr val="D7DDE2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10250424" y="1472184"/>
            <a:ext cx="73152" cy="73152"/>
          </a:xfrm>
          <a:prstGeom prst="ellipse">
            <a:avLst/>
          </a:prstGeom>
          <a:solidFill>
            <a:srgbClr val="D7DDE2">
              <a:alpha val="80000"/>
            </a:srgbClr>
          </a:solidFill>
          <a:ln w="12700">
            <a:solidFill>
              <a:srgbClr val="D7DDE2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11439144" y="1106424"/>
            <a:ext cx="73152" cy="73152"/>
          </a:xfrm>
          <a:prstGeom prst="ellipse">
            <a:avLst/>
          </a:prstGeom>
          <a:solidFill>
            <a:srgbClr val="D7DDE2">
              <a:alpha val="80000"/>
            </a:srgbClr>
          </a:solidFill>
          <a:ln w="12700">
            <a:solidFill>
              <a:srgbClr val="D7DDE2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8741664" y="2112264"/>
            <a:ext cx="73152" cy="73152"/>
          </a:xfrm>
          <a:prstGeom prst="ellipse">
            <a:avLst/>
          </a:prstGeom>
          <a:solidFill>
            <a:srgbClr val="D7DDE2">
              <a:alpha val="80000"/>
            </a:srgbClr>
          </a:solidFill>
          <a:ln w="12700">
            <a:solidFill>
              <a:srgbClr val="D7DDE2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9793224" y="1837944"/>
            <a:ext cx="73152" cy="73152"/>
          </a:xfrm>
          <a:prstGeom prst="ellipse">
            <a:avLst/>
          </a:prstGeom>
          <a:solidFill>
            <a:srgbClr val="D7DDE2">
              <a:alpha val="80000"/>
            </a:srgbClr>
          </a:solidFill>
          <a:ln w="12700">
            <a:solidFill>
              <a:srgbClr val="D7DDE2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11027664" y="2295144"/>
            <a:ext cx="73152" cy="73152"/>
          </a:xfrm>
          <a:prstGeom prst="ellipse">
            <a:avLst/>
          </a:prstGeom>
          <a:solidFill>
            <a:srgbClr val="D7DDE2">
              <a:alpha val="80000"/>
            </a:srgbClr>
          </a:solidFill>
          <a:ln w="12700">
            <a:solidFill>
              <a:srgbClr val="D7DDE2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594360" y="384048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DEKAN: Dual-Backbone Flagship Model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621792" y="89611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E6A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Higher-capacity model for stronger balanced accuracy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94360" y="1133856"/>
            <a:ext cx="10835640" cy="0"/>
          </a:xfrm>
          <a:prstGeom prst="line">
            <a:avLst/>
          </a:prstGeom>
          <a:noFill/>
          <a:ln w="15240">
            <a:solidFill>
              <a:srgbClr val="1E1E1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Shape 3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Shape 31"/>
          <p:cNvSpPr/>
          <p:nvPr/>
        </p:nvSpPr>
        <p:spPr>
          <a:xfrm>
            <a:off x="0" y="6364224"/>
            <a:ext cx="5074920" cy="384048"/>
          </a:xfrm>
          <a:prstGeom prst="parallelogram">
            <a:avLst/>
          </a:prstGeom>
          <a:solidFill>
            <a:srgbClr val="B7D0DC"/>
          </a:solidFill>
          <a:ln w="12700">
            <a:solidFill>
              <a:srgbClr val="B7D0DC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11722608" y="651967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914400" y="1389888"/>
            <a:ext cx="1371600" cy="685800"/>
          </a:xfrm>
          <a:prstGeom prst="roundRect">
            <a:avLst>
              <a:gd name="adj" fmla="val 10667"/>
            </a:avLst>
          </a:prstGeom>
          <a:solidFill>
            <a:srgbClr val="EFF8F5"/>
          </a:solidFill>
          <a:ln w="12700">
            <a:solidFill>
              <a:srgbClr val="2BA4A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4"/>
          <p:cNvSpPr/>
          <p:nvPr/>
        </p:nvSpPr>
        <p:spPr>
          <a:xfrm>
            <a:off x="960120" y="1499616"/>
            <a:ext cx="1280160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DenseNet-121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stem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914400" y="2350008"/>
            <a:ext cx="1371600" cy="685800"/>
          </a:xfrm>
          <a:prstGeom prst="roundRect">
            <a:avLst>
              <a:gd name="adj" fmla="val 10667"/>
            </a:avLst>
          </a:prstGeom>
          <a:solidFill>
            <a:srgbClr val="DDECF2"/>
          </a:solidFill>
          <a:ln w="12700">
            <a:solidFill>
              <a:srgbClr val="0D2A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36"/>
          <p:cNvSpPr/>
          <p:nvPr/>
        </p:nvSpPr>
        <p:spPr>
          <a:xfrm>
            <a:off x="960120" y="2459736"/>
            <a:ext cx="1280160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EfficientNet-B0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stem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2926080" y="1865376"/>
            <a:ext cx="1463040" cy="731520"/>
          </a:xfrm>
          <a:prstGeom prst="roundRect">
            <a:avLst>
              <a:gd name="adj" fmla="val 10000"/>
            </a:avLst>
          </a:prstGeom>
          <a:solidFill>
            <a:srgbClr val="F7F0E8"/>
          </a:solidFill>
          <a:ln w="12700">
            <a:solidFill>
              <a:srgbClr val="D99B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Text 38"/>
          <p:cNvSpPr/>
          <p:nvPr/>
        </p:nvSpPr>
        <p:spPr>
          <a:xfrm>
            <a:off x="2971800" y="1975104"/>
            <a:ext cx="137160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Learned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attention fusion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5029200" y="1865376"/>
            <a:ext cx="1508760" cy="731520"/>
          </a:xfrm>
          <a:prstGeom prst="roundRect">
            <a:avLst>
              <a:gd name="adj" fmla="val 10000"/>
            </a:avLst>
          </a:prstGeom>
          <a:solidFill>
            <a:srgbClr val="F2F1FA"/>
          </a:solidFill>
          <a:ln w="12700">
            <a:solidFill>
              <a:srgbClr val="8367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Text 40"/>
          <p:cNvSpPr/>
          <p:nvPr/>
        </p:nvSpPr>
        <p:spPr>
          <a:xfrm>
            <a:off x="5074920" y="1975104"/>
            <a:ext cx="141732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8-layer TinyViT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256-d, 8 heads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7178040" y="1865376"/>
            <a:ext cx="1417320" cy="731520"/>
          </a:xfrm>
          <a:prstGeom prst="roundRect">
            <a:avLst>
              <a:gd name="adj" fmla="val 10000"/>
            </a:avLst>
          </a:prstGeom>
          <a:solidFill>
            <a:srgbClr val="FFF4F1"/>
          </a:solidFill>
          <a:ln w="12700">
            <a:solidFill>
              <a:srgbClr val="C95E5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Text 42"/>
          <p:cNvSpPr/>
          <p:nvPr/>
        </p:nvSpPr>
        <p:spPr>
          <a:xfrm>
            <a:off x="7223760" y="1975104"/>
            <a:ext cx="132588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Metadata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cross-attn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9281160" y="1865376"/>
            <a:ext cx="1325880" cy="731520"/>
          </a:xfrm>
          <a:prstGeom prst="roundRect">
            <a:avLst>
              <a:gd name="adj" fmla="val 10000"/>
            </a:avLst>
          </a:prstGeom>
          <a:solidFill>
            <a:srgbClr val="EFF8F5"/>
          </a:solidFill>
          <a:ln w="12700">
            <a:solidFill>
              <a:srgbClr val="2BA4A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Text 44"/>
          <p:cNvSpPr/>
          <p:nvPr/>
        </p:nvSpPr>
        <p:spPr>
          <a:xfrm>
            <a:off x="9326880" y="1975104"/>
            <a:ext cx="123444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KAN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classifier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2331720" y="1737360"/>
            <a:ext cx="521208" cy="429768"/>
          </a:xfrm>
          <a:prstGeom prst="line">
            <a:avLst/>
          </a:prstGeom>
          <a:noFill/>
          <a:ln w="20320">
            <a:solidFill>
              <a:srgbClr val="5E6A73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48" name="Shape 46"/>
          <p:cNvSpPr/>
          <p:nvPr/>
        </p:nvSpPr>
        <p:spPr>
          <a:xfrm>
            <a:off x="2331720" y="2688336"/>
            <a:ext cx="521208" cy="0"/>
          </a:xfrm>
          <a:prstGeom prst="line">
            <a:avLst/>
          </a:prstGeom>
          <a:noFill/>
          <a:ln w="20320">
            <a:solidFill>
              <a:srgbClr val="5E6A73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49" name="Shape 47"/>
          <p:cNvSpPr/>
          <p:nvPr/>
        </p:nvSpPr>
        <p:spPr>
          <a:xfrm>
            <a:off x="4407408" y="2231136"/>
            <a:ext cx="548640" cy="0"/>
          </a:xfrm>
          <a:prstGeom prst="line">
            <a:avLst/>
          </a:prstGeom>
          <a:noFill/>
          <a:ln w="20320">
            <a:solidFill>
              <a:srgbClr val="5E6A73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50" name="Shape 48"/>
          <p:cNvSpPr/>
          <p:nvPr/>
        </p:nvSpPr>
        <p:spPr>
          <a:xfrm>
            <a:off x="6565392" y="2231136"/>
            <a:ext cx="539496" cy="0"/>
          </a:xfrm>
          <a:prstGeom prst="line">
            <a:avLst/>
          </a:prstGeom>
          <a:noFill/>
          <a:ln w="20320">
            <a:solidFill>
              <a:srgbClr val="5E6A73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51" name="Shape 49"/>
          <p:cNvSpPr/>
          <p:nvPr/>
        </p:nvSpPr>
        <p:spPr>
          <a:xfrm>
            <a:off x="8622792" y="2231136"/>
            <a:ext cx="594360" cy="0"/>
          </a:xfrm>
          <a:prstGeom prst="line">
            <a:avLst/>
          </a:prstGeom>
          <a:noFill/>
          <a:ln w="20320">
            <a:solidFill>
              <a:srgbClr val="5E6A73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52" name="Shape 50"/>
          <p:cNvSpPr/>
          <p:nvPr/>
        </p:nvSpPr>
        <p:spPr>
          <a:xfrm>
            <a:off x="1188720" y="3337560"/>
            <a:ext cx="1645920" cy="841248"/>
          </a:xfrm>
          <a:prstGeom prst="roundRect">
            <a:avLst>
              <a:gd name="adj" fmla="val 8696"/>
            </a:avLst>
          </a:prstGeom>
          <a:solidFill>
            <a:srgbClr val="F4F8FA"/>
          </a:solidFill>
          <a:ln w="12700">
            <a:solidFill>
              <a:srgbClr val="B7D0D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ext 51"/>
          <p:cNvSpPr/>
          <p:nvPr/>
        </p:nvSpPr>
        <p:spPr>
          <a:xfrm>
            <a:off x="1261872" y="3447288"/>
            <a:ext cx="1499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99B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16.45M</a:t>
            </a:r>
            <a:endParaRPr lang="en-US" sz="2000" dirty="0"/>
          </a:p>
        </p:txBody>
      </p:sp>
      <p:sp>
        <p:nvSpPr>
          <p:cNvPr id="54" name="Text 52"/>
          <p:cNvSpPr/>
          <p:nvPr/>
        </p:nvSpPr>
        <p:spPr>
          <a:xfrm>
            <a:off x="1261872" y="3904488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E6A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parameters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3154680" y="3337560"/>
            <a:ext cx="1645920" cy="841248"/>
          </a:xfrm>
          <a:prstGeom prst="roundRect">
            <a:avLst>
              <a:gd name="adj" fmla="val 8696"/>
            </a:avLst>
          </a:prstGeom>
          <a:solidFill>
            <a:srgbClr val="F4F8FA"/>
          </a:solidFill>
          <a:ln w="12700">
            <a:solidFill>
              <a:srgbClr val="B7D0D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6" name="Text 54"/>
          <p:cNvSpPr/>
          <p:nvPr/>
        </p:nvSpPr>
        <p:spPr>
          <a:xfrm>
            <a:off x="3227832" y="3447288"/>
            <a:ext cx="1499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BA4A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6.633</a:t>
            </a:r>
            <a:endParaRPr lang="en-US" sz="2000" dirty="0"/>
          </a:p>
        </p:txBody>
      </p:sp>
      <p:sp>
        <p:nvSpPr>
          <p:cNvPr id="57" name="Text 55"/>
          <p:cNvSpPr/>
          <p:nvPr/>
        </p:nvSpPr>
        <p:spPr>
          <a:xfrm>
            <a:off x="3227832" y="3904488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E6A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GMACs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5120640" y="3337560"/>
            <a:ext cx="1645920" cy="841248"/>
          </a:xfrm>
          <a:prstGeom prst="roundRect">
            <a:avLst>
              <a:gd name="adj" fmla="val 8696"/>
            </a:avLst>
          </a:prstGeom>
          <a:solidFill>
            <a:srgbClr val="F4F8FA"/>
          </a:solidFill>
          <a:ln w="12700">
            <a:solidFill>
              <a:srgbClr val="B7D0D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ext 57"/>
          <p:cNvSpPr/>
          <p:nvPr/>
        </p:nvSpPr>
        <p:spPr>
          <a:xfrm>
            <a:off x="5193792" y="3447288"/>
            <a:ext cx="1499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367C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0.6438</a:t>
            </a:r>
            <a:endParaRPr lang="en-US" sz="2000" dirty="0"/>
          </a:p>
        </p:txBody>
      </p:sp>
      <p:sp>
        <p:nvSpPr>
          <p:cNvPr id="60" name="Text 58"/>
          <p:cNvSpPr/>
          <p:nvPr/>
        </p:nvSpPr>
        <p:spPr>
          <a:xfrm>
            <a:off x="5193792" y="3904488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E6A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BMA with TTA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7086600" y="3337560"/>
            <a:ext cx="1645920" cy="841248"/>
          </a:xfrm>
          <a:prstGeom prst="roundRect">
            <a:avLst>
              <a:gd name="adj" fmla="val 8696"/>
            </a:avLst>
          </a:prstGeom>
          <a:solidFill>
            <a:srgbClr val="F4F8FA"/>
          </a:solidFill>
          <a:ln w="12700">
            <a:solidFill>
              <a:srgbClr val="B7D0D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2" name="Text 60"/>
          <p:cNvSpPr/>
          <p:nvPr/>
        </p:nvSpPr>
        <p:spPr>
          <a:xfrm>
            <a:off x="7159752" y="3447288"/>
            <a:ext cx="1499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2A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0.9271</a:t>
            </a:r>
            <a:endParaRPr lang="en-US" sz="2000" dirty="0"/>
          </a:p>
        </p:txBody>
      </p:sp>
      <p:sp>
        <p:nvSpPr>
          <p:cNvPr id="63" name="Text 61"/>
          <p:cNvSpPr/>
          <p:nvPr/>
        </p:nvSpPr>
        <p:spPr>
          <a:xfrm>
            <a:off x="7159752" y="3904488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E6A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macro-AUC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1051560" y="4617720"/>
            <a:ext cx="9875520" cy="8412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55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Fuses two complementary pretrained CNN representations.</a:t>
            </a:r>
            <a:endParaRPr lang="en-US" sz="1550" dirty="0"/>
          </a:p>
          <a:p>
            <a:pPr marL="127000" indent="-127000">
              <a:buSzPct val="100000"/>
              <a:buChar char="•"/>
            </a:pPr>
            <a:r>
              <a:rPr lang="en-US" sz="155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Uses the same metadata mechanism as the lightweight model.</a:t>
            </a:r>
            <a:endParaRPr lang="en-US" sz="1550" dirty="0"/>
          </a:p>
          <a:p>
            <a:pPr marL="127000" indent="-127000">
              <a:buSzPct val="100000"/>
              <a:buChar char="•"/>
            </a:pPr>
            <a:r>
              <a:rPr lang="en-US" sz="155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Trades footprint for the best flagship result among the main proposed models.</a:t>
            </a:r>
            <a:endParaRPr lang="en-US" sz="15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43800" y="45720"/>
            <a:ext cx="1097280" cy="36576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41080" y="411480"/>
            <a:ext cx="1143000" cy="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784080" y="91440"/>
            <a:ext cx="1051560" cy="54864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35640" y="640080"/>
            <a:ext cx="1005840" cy="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41080" y="411480"/>
            <a:ext cx="0" cy="82296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183880" y="1234440"/>
            <a:ext cx="1097280" cy="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281160" y="1005840"/>
            <a:ext cx="1005840" cy="50292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287000" y="1508760"/>
            <a:ext cx="1188720" cy="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183880" y="1234440"/>
            <a:ext cx="594360" cy="91440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778240" y="2148840"/>
            <a:ext cx="1051560" cy="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829800" y="1874520"/>
            <a:ext cx="1234440" cy="45720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281160" y="1005840"/>
            <a:ext cx="548640" cy="86868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835640" y="640080"/>
            <a:ext cx="640080" cy="50292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475720" y="1143000"/>
            <a:ext cx="0" cy="118872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784080" y="91440"/>
            <a:ext cx="0" cy="91440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507224" y="9144"/>
            <a:ext cx="73152" cy="73152"/>
          </a:xfrm>
          <a:prstGeom prst="ellipse">
            <a:avLst/>
          </a:prstGeom>
          <a:solidFill>
            <a:srgbClr val="D7DDE2">
              <a:alpha val="80000"/>
            </a:srgbClr>
          </a:solidFill>
          <a:ln w="12700">
            <a:solidFill>
              <a:srgbClr val="D7DDE2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604504" y="374904"/>
            <a:ext cx="73152" cy="73152"/>
          </a:xfrm>
          <a:prstGeom prst="ellipse">
            <a:avLst/>
          </a:prstGeom>
          <a:solidFill>
            <a:srgbClr val="D7DDE2">
              <a:alpha val="80000"/>
            </a:srgbClr>
          </a:solidFill>
          <a:ln w="12700">
            <a:solidFill>
              <a:srgbClr val="D7DDE2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747504" y="54864"/>
            <a:ext cx="73152" cy="73152"/>
          </a:xfrm>
          <a:prstGeom prst="ellipse">
            <a:avLst/>
          </a:prstGeom>
          <a:solidFill>
            <a:srgbClr val="D7DDE2">
              <a:alpha val="80000"/>
            </a:srgbClr>
          </a:solidFill>
          <a:ln w="12700">
            <a:solidFill>
              <a:srgbClr val="D7DDE2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799064" y="603504"/>
            <a:ext cx="73152" cy="73152"/>
          </a:xfrm>
          <a:prstGeom prst="ellipse">
            <a:avLst/>
          </a:prstGeom>
          <a:solidFill>
            <a:srgbClr val="D7DDE2">
              <a:alpha val="80000"/>
            </a:srgbClr>
          </a:solidFill>
          <a:ln w="12700">
            <a:solidFill>
              <a:srgbClr val="D7DDE2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804904" y="146304"/>
            <a:ext cx="73152" cy="73152"/>
          </a:xfrm>
          <a:prstGeom prst="ellipse">
            <a:avLst/>
          </a:prstGeom>
          <a:solidFill>
            <a:srgbClr val="D7DDE2">
              <a:alpha val="80000"/>
            </a:srgbClr>
          </a:solidFill>
          <a:ln w="12700">
            <a:solidFill>
              <a:srgbClr val="D7DDE2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147304" y="1197864"/>
            <a:ext cx="73152" cy="73152"/>
          </a:xfrm>
          <a:prstGeom prst="ellipse">
            <a:avLst/>
          </a:prstGeom>
          <a:solidFill>
            <a:srgbClr val="D7DDE2">
              <a:alpha val="80000"/>
            </a:srgbClr>
          </a:solidFill>
          <a:ln w="12700">
            <a:solidFill>
              <a:srgbClr val="D7DDE2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244584" y="969264"/>
            <a:ext cx="73152" cy="73152"/>
          </a:xfrm>
          <a:prstGeom prst="ellipse">
            <a:avLst/>
          </a:prstGeom>
          <a:solidFill>
            <a:srgbClr val="D7DDE2">
              <a:alpha val="80000"/>
            </a:srgbClr>
          </a:solidFill>
          <a:ln w="12700">
            <a:solidFill>
              <a:srgbClr val="D7DDE2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250424" y="1472184"/>
            <a:ext cx="73152" cy="73152"/>
          </a:xfrm>
          <a:prstGeom prst="ellipse">
            <a:avLst/>
          </a:prstGeom>
          <a:solidFill>
            <a:srgbClr val="D7DDE2">
              <a:alpha val="80000"/>
            </a:srgbClr>
          </a:solidFill>
          <a:ln w="12700">
            <a:solidFill>
              <a:srgbClr val="D7DDE2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439144" y="1106424"/>
            <a:ext cx="73152" cy="73152"/>
          </a:xfrm>
          <a:prstGeom prst="ellipse">
            <a:avLst/>
          </a:prstGeom>
          <a:solidFill>
            <a:srgbClr val="D7DDE2">
              <a:alpha val="80000"/>
            </a:srgbClr>
          </a:solidFill>
          <a:ln w="12700">
            <a:solidFill>
              <a:srgbClr val="D7DDE2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741664" y="2112264"/>
            <a:ext cx="73152" cy="73152"/>
          </a:xfrm>
          <a:prstGeom prst="ellipse">
            <a:avLst/>
          </a:prstGeom>
          <a:solidFill>
            <a:srgbClr val="D7DDE2">
              <a:alpha val="80000"/>
            </a:srgbClr>
          </a:solidFill>
          <a:ln w="12700">
            <a:solidFill>
              <a:srgbClr val="D7DDE2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793224" y="1837944"/>
            <a:ext cx="73152" cy="73152"/>
          </a:xfrm>
          <a:prstGeom prst="ellipse">
            <a:avLst/>
          </a:prstGeom>
          <a:solidFill>
            <a:srgbClr val="D7DDE2">
              <a:alpha val="80000"/>
            </a:srgbClr>
          </a:solidFill>
          <a:ln w="12700">
            <a:solidFill>
              <a:srgbClr val="D7DDE2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027664" y="2295144"/>
            <a:ext cx="73152" cy="73152"/>
          </a:xfrm>
          <a:prstGeom prst="ellipse">
            <a:avLst/>
          </a:prstGeom>
          <a:solidFill>
            <a:srgbClr val="D7DDE2">
              <a:alpha val="80000"/>
            </a:srgbClr>
          </a:solidFill>
          <a:ln w="12700">
            <a:solidFill>
              <a:srgbClr val="D7DDE2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" y="384048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Training and Evaluation Protocol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621792" y="89611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E6A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Identical recipe for all baselines and proposed models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94360" y="1133856"/>
            <a:ext cx="10835640" cy="0"/>
          </a:xfrm>
          <a:prstGeom prst="line">
            <a:avLst/>
          </a:prstGeom>
          <a:noFill/>
          <a:ln w="15240">
            <a:solidFill>
              <a:srgbClr val="1E1E1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6364224"/>
            <a:ext cx="5074920" cy="384048"/>
          </a:xfrm>
          <a:prstGeom prst="parallelogram">
            <a:avLst/>
          </a:prstGeom>
          <a:solidFill>
            <a:srgbClr val="B7D0DC"/>
          </a:solidFill>
          <a:ln w="12700">
            <a:solidFill>
              <a:srgbClr val="B7D0DC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1722608" y="651967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77240" y="1444752"/>
            <a:ext cx="5532120" cy="3566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52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Optimizer: AdamW, base LR 3e-4, gradient clipping at 5.</a:t>
            </a:r>
            <a:endParaRPr lang="en-US" sz="1520" dirty="0"/>
          </a:p>
          <a:p>
            <a:pPr marL="127000" indent="-127000">
              <a:buSzPct val="100000"/>
              <a:buChar char="•"/>
            </a:pPr>
            <a:r>
              <a:rPr lang="en-US" sz="152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Schedule: 5-epoch warmup then cosine annealing to 1e-6.</a:t>
            </a:r>
            <a:endParaRPr lang="en-US" sz="1520" dirty="0"/>
          </a:p>
          <a:p>
            <a:pPr marL="127000" indent="-127000">
              <a:buSzPct val="100000"/>
              <a:buChar char="•"/>
            </a:pPr>
            <a:r>
              <a:rPr lang="en-US" sz="152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Class-Balanced Focal Loss: beta=0.999, gamma=2.5, label smoothing=0.1.</a:t>
            </a:r>
            <a:endParaRPr lang="en-US" sz="1520" dirty="0"/>
          </a:p>
          <a:p>
            <a:pPr marL="127000" indent="-127000">
              <a:buSzPct val="100000"/>
              <a:buChar char="•"/>
            </a:pPr>
            <a:r>
              <a:rPr lang="en-US" sz="152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Augmentation: flips, random resized crops, colour jitter, RandAugment and Mixup.</a:t>
            </a:r>
            <a:endParaRPr lang="en-US" sz="1520" dirty="0"/>
          </a:p>
          <a:p>
            <a:pPr marL="127000" indent="-127000">
              <a:buSzPct val="100000"/>
              <a:buChar char="•"/>
            </a:pPr>
            <a:r>
              <a:rPr lang="en-US" sz="152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Efficiency: AMP, channels-last memory layout, EMA weights for validation.</a:t>
            </a:r>
            <a:endParaRPr lang="en-US" sz="152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37960" y="1536192"/>
          <a:ext cx="4480560" cy="1737360"/>
        </p:xfrm>
        <a:graphic>
          <a:graphicData uri="http://schemas.openxmlformats.org/drawingml/2006/table">
            <a:tbl>
              <a:tblPr/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43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Model</a:t>
                      </a:r>
                      <a:endParaRPr lang="en-US" sz="12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Eff. batch</a:t>
                      </a:r>
                      <a:endParaRPr lang="en-US" sz="12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Epochs</a:t>
                      </a:r>
                      <a:endParaRPr lang="en-US" sz="12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Backbone LR</a:t>
                      </a:r>
                      <a:endParaRPr lang="en-US" sz="12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Hybrid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288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150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0.3x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DEKAN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256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150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0.1x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Baselines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128-256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100-150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0.3x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7" name="Shape 34"/>
          <p:cNvSpPr/>
          <p:nvPr/>
        </p:nvSpPr>
        <p:spPr>
          <a:xfrm>
            <a:off x="6629400" y="3657600"/>
            <a:ext cx="2011680" cy="822960"/>
          </a:xfrm>
          <a:prstGeom prst="roundRect">
            <a:avLst>
              <a:gd name="adj" fmla="val 8889"/>
            </a:avLst>
          </a:prstGeom>
          <a:solidFill>
            <a:srgbClr val="F2F1FA"/>
          </a:solidFill>
          <a:ln w="12700">
            <a:solidFill>
              <a:srgbClr val="8367C7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675120" y="3767328"/>
            <a:ext cx="192024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metric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BMA = mean per-class recall</a:t>
            </a:r>
            <a:endParaRPr lang="en-US" sz="1150" dirty="0"/>
          </a:p>
        </p:txBody>
      </p:sp>
      <p:sp>
        <p:nvSpPr>
          <p:cNvPr id="39" name="Shape 36"/>
          <p:cNvSpPr/>
          <p:nvPr/>
        </p:nvSpPr>
        <p:spPr>
          <a:xfrm>
            <a:off x="9144000" y="3657600"/>
            <a:ext cx="2011680" cy="822960"/>
          </a:xfrm>
          <a:prstGeom prst="roundRect">
            <a:avLst>
              <a:gd name="adj" fmla="val 8889"/>
            </a:avLst>
          </a:prstGeom>
          <a:solidFill>
            <a:srgbClr val="EFF8F5"/>
          </a:solidFill>
          <a:ln w="12700">
            <a:solidFill>
              <a:srgbClr val="2BA4A0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9189720" y="3767328"/>
            <a:ext cx="192024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Secondary metrics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Macro-F1, macro-AUC, accuracy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8686800" y="4069080"/>
            <a:ext cx="411480" cy="0"/>
          </a:xfrm>
          <a:prstGeom prst="line">
            <a:avLst/>
          </a:prstGeom>
          <a:noFill/>
          <a:ln w="20320">
            <a:solidFill>
              <a:srgbClr val="5E6A73"/>
            </a:solidFill>
            <a:prstDash val="solid"/>
            <a:headEnd type="none"/>
            <a:tailEnd type="triangle"/>
          </a:ln>
        </p:spPr>
      </p:sp>
      <p:sp>
        <p:nvSpPr>
          <p:cNvPr id="42" name="Text 39"/>
          <p:cNvSpPr/>
          <p:nvPr/>
        </p:nvSpPr>
        <p:spPr>
          <a:xfrm>
            <a:off x="6629400" y="4892040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5E6A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Inference uses eight-view test-time augmentation (TTA), averaging softmax outputs.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43800" y="45720"/>
            <a:ext cx="1097280" cy="36576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41080" y="411480"/>
            <a:ext cx="1143000" cy="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784080" y="91440"/>
            <a:ext cx="1051560" cy="54864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35640" y="640080"/>
            <a:ext cx="1005840" cy="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41080" y="411480"/>
            <a:ext cx="0" cy="82296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183880" y="1234440"/>
            <a:ext cx="1097280" cy="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281160" y="1005840"/>
            <a:ext cx="1005840" cy="50292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287000" y="1508760"/>
            <a:ext cx="1188720" cy="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183880" y="1234440"/>
            <a:ext cx="594360" cy="91440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778240" y="2148840"/>
            <a:ext cx="1051560" cy="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829800" y="1874520"/>
            <a:ext cx="1234440" cy="45720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281160" y="1005840"/>
            <a:ext cx="548640" cy="86868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835640" y="640080"/>
            <a:ext cx="640080" cy="50292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475720" y="1143000"/>
            <a:ext cx="0" cy="118872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784080" y="91440"/>
            <a:ext cx="0" cy="91440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507224" y="9144"/>
            <a:ext cx="73152" cy="73152"/>
          </a:xfrm>
          <a:prstGeom prst="ellipse">
            <a:avLst/>
          </a:prstGeom>
          <a:solidFill>
            <a:srgbClr val="D7DDE2">
              <a:alpha val="80000"/>
            </a:srgbClr>
          </a:solidFill>
          <a:ln w="12700">
            <a:solidFill>
              <a:srgbClr val="D7DDE2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604504" y="374904"/>
            <a:ext cx="73152" cy="73152"/>
          </a:xfrm>
          <a:prstGeom prst="ellipse">
            <a:avLst/>
          </a:prstGeom>
          <a:solidFill>
            <a:srgbClr val="D7DDE2">
              <a:alpha val="80000"/>
            </a:srgbClr>
          </a:solidFill>
          <a:ln w="12700">
            <a:solidFill>
              <a:srgbClr val="D7DDE2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747504" y="54864"/>
            <a:ext cx="73152" cy="73152"/>
          </a:xfrm>
          <a:prstGeom prst="ellipse">
            <a:avLst/>
          </a:prstGeom>
          <a:solidFill>
            <a:srgbClr val="D7DDE2">
              <a:alpha val="80000"/>
            </a:srgbClr>
          </a:solidFill>
          <a:ln w="12700">
            <a:solidFill>
              <a:srgbClr val="D7DDE2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799064" y="603504"/>
            <a:ext cx="73152" cy="73152"/>
          </a:xfrm>
          <a:prstGeom prst="ellipse">
            <a:avLst/>
          </a:prstGeom>
          <a:solidFill>
            <a:srgbClr val="D7DDE2">
              <a:alpha val="80000"/>
            </a:srgbClr>
          </a:solidFill>
          <a:ln w="12700">
            <a:solidFill>
              <a:srgbClr val="D7DDE2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804904" y="146304"/>
            <a:ext cx="73152" cy="73152"/>
          </a:xfrm>
          <a:prstGeom prst="ellipse">
            <a:avLst/>
          </a:prstGeom>
          <a:solidFill>
            <a:srgbClr val="D7DDE2">
              <a:alpha val="80000"/>
            </a:srgbClr>
          </a:solidFill>
          <a:ln w="12700">
            <a:solidFill>
              <a:srgbClr val="D7DDE2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147304" y="1197864"/>
            <a:ext cx="73152" cy="73152"/>
          </a:xfrm>
          <a:prstGeom prst="ellipse">
            <a:avLst/>
          </a:prstGeom>
          <a:solidFill>
            <a:srgbClr val="D7DDE2">
              <a:alpha val="80000"/>
            </a:srgbClr>
          </a:solidFill>
          <a:ln w="12700">
            <a:solidFill>
              <a:srgbClr val="D7DDE2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244584" y="969264"/>
            <a:ext cx="73152" cy="73152"/>
          </a:xfrm>
          <a:prstGeom prst="ellipse">
            <a:avLst/>
          </a:prstGeom>
          <a:solidFill>
            <a:srgbClr val="D7DDE2">
              <a:alpha val="80000"/>
            </a:srgbClr>
          </a:solidFill>
          <a:ln w="12700">
            <a:solidFill>
              <a:srgbClr val="D7DDE2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250424" y="1472184"/>
            <a:ext cx="73152" cy="73152"/>
          </a:xfrm>
          <a:prstGeom prst="ellipse">
            <a:avLst/>
          </a:prstGeom>
          <a:solidFill>
            <a:srgbClr val="D7DDE2">
              <a:alpha val="80000"/>
            </a:srgbClr>
          </a:solidFill>
          <a:ln w="12700">
            <a:solidFill>
              <a:srgbClr val="D7DDE2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439144" y="1106424"/>
            <a:ext cx="73152" cy="73152"/>
          </a:xfrm>
          <a:prstGeom prst="ellipse">
            <a:avLst/>
          </a:prstGeom>
          <a:solidFill>
            <a:srgbClr val="D7DDE2">
              <a:alpha val="80000"/>
            </a:srgbClr>
          </a:solidFill>
          <a:ln w="12700">
            <a:solidFill>
              <a:srgbClr val="D7DDE2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741664" y="2112264"/>
            <a:ext cx="73152" cy="73152"/>
          </a:xfrm>
          <a:prstGeom prst="ellipse">
            <a:avLst/>
          </a:prstGeom>
          <a:solidFill>
            <a:srgbClr val="D7DDE2">
              <a:alpha val="80000"/>
            </a:srgbClr>
          </a:solidFill>
          <a:ln w="12700">
            <a:solidFill>
              <a:srgbClr val="D7DDE2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793224" y="1837944"/>
            <a:ext cx="73152" cy="73152"/>
          </a:xfrm>
          <a:prstGeom prst="ellipse">
            <a:avLst/>
          </a:prstGeom>
          <a:solidFill>
            <a:srgbClr val="D7DDE2">
              <a:alpha val="80000"/>
            </a:srgbClr>
          </a:solidFill>
          <a:ln w="12700">
            <a:solidFill>
              <a:srgbClr val="D7DDE2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027664" y="2295144"/>
            <a:ext cx="73152" cy="73152"/>
          </a:xfrm>
          <a:prstGeom prst="ellipse">
            <a:avLst/>
          </a:prstGeom>
          <a:solidFill>
            <a:srgbClr val="D7DDE2">
              <a:alpha val="80000"/>
            </a:srgbClr>
          </a:solidFill>
          <a:ln w="12700">
            <a:solidFill>
              <a:srgbClr val="D7DDE2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" y="384048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Main Result: ISIC-2019 Test Set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621792" y="89611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E6A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Balanced multi-class accuracy with 8-view TTA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94360" y="1133856"/>
            <a:ext cx="10835640" cy="0"/>
          </a:xfrm>
          <a:prstGeom prst="line">
            <a:avLst/>
          </a:prstGeom>
          <a:noFill/>
          <a:ln w="15240">
            <a:solidFill>
              <a:srgbClr val="1E1E1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6364224"/>
            <a:ext cx="5074920" cy="384048"/>
          </a:xfrm>
          <a:prstGeom prst="parallelogram">
            <a:avLst/>
          </a:prstGeom>
          <a:solidFill>
            <a:srgbClr val="B7D0DC"/>
          </a:solidFill>
          <a:ln w="12700">
            <a:solidFill>
              <a:srgbClr val="B7D0DC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1722608" y="651967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85800" y="4325112"/>
            <a:ext cx="6035040" cy="0"/>
          </a:xfrm>
          <a:prstGeom prst="line">
            <a:avLst/>
          </a:prstGeom>
          <a:noFill/>
          <a:ln w="12700">
            <a:solidFill>
              <a:srgbClr val="A7B0B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85800" y="2983243"/>
            <a:ext cx="768096" cy="1341869"/>
          </a:xfrm>
          <a:prstGeom prst="rect">
            <a:avLst/>
          </a:prstGeom>
          <a:solidFill>
            <a:srgbClr val="5E6A73"/>
          </a:solidFill>
          <a:ln w="12700">
            <a:solidFill>
              <a:srgbClr val="5E6A73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080" y="2782075"/>
            <a:ext cx="859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0.337</a:t>
            </a:r>
            <a:endParaRPr lang="en-US" sz="820" dirty="0"/>
          </a:p>
        </p:txBody>
      </p:sp>
      <p:sp>
        <p:nvSpPr>
          <p:cNvPr id="38" name="Text 36"/>
          <p:cNvSpPr/>
          <p:nvPr/>
        </p:nvSpPr>
        <p:spPr>
          <a:xfrm>
            <a:off x="667512" y="4398264"/>
            <a:ext cx="804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5E6A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ResNet-18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1563624" y="2437412"/>
            <a:ext cx="768096" cy="1887700"/>
          </a:xfrm>
          <a:prstGeom prst="rect">
            <a:avLst/>
          </a:prstGeom>
          <a:solidFill>
            <a:srgbClr val="5E6A73"/>
          </a:solidFill>
          <a:ln w="12700">
            <a:solidFill>
              <a:srgbClr val="5E6A73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517904" y="2236244"/>
            <a:ext cx="859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0.474</a:t>
            </a:r>
            <a:endParaRPr lang="en-US" sz="820" dirty="0"/>
          </a:p>
        </p:txBody>
      </p:sp>
      <p:sp>
        <p:nvSpPr>
          <p:cNvPr id="41" name="Text 39"/>
          <p:cNvSpPr/>
          <p:nvPr/>
        </p:nvSpPr>
        <p:spPr>
          <a:xfrm>
            <a:off x="1545336" y="4398264"/>
            <a:ext cx="804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5E6A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MobileNetV2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2441448" y="2354541"/>
            <a:ext cx="768096" cy="1970571"/>
          </a:xfrm>
          <a:prstGeom prst="rect">
            <a:avLst/>
          </a:prstGeom>
          <a:solidFill>
            <a:srgbClr val="5E6A73"/>
          </a:solidFill>
          <a:ln w="12700">
            <a:solidFill>
              <a:srgbClr val="5E6A73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395728" y="2153373"/>
            <a:ext cx="859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0.495</a:t>
            </a:r>
            <a:endParaRPr lang="en-US" sz="820" dirty="0"/>
          </a:p>
        </p:txBody>
      </p:sp>
      <p:sp>
        <p:nvSpPr>
          <p:cNvPr id="44" name="Text 42"/>
          <p:cNvSpPr/>
          <p:nvPr/>
        </p:nvSpPr>
        <p:spPr>
          <a:xfrm>
            <a:off x="2423160" y="4398264"/>
            <a:ext cx="804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5E6A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EffNet-B0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3319272" y="1926641"/>
            <a:ext cx="768096" cy="2398471"/>
          </a:xfrm>
          <a:prstGeom prst="rect">
            <a:avLst/>
          </a:prstGeom>
          <a:solidFill>
            <a:srgbClr val="B7D0DC"/>
          </a:solidFill>
          <a:ln w="12700">
            <a:solidFill>
              <a:srgbClr val="B7D0DC">
                <a:alpha val="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273552" y="1725473"/>
            <a:ext cx="859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0.602</a:t>
            </a:r>
            <a:endParaRPr lang="en-US" sz="820" dirty="0"/>
          </a:p>
        </p:txBody>
      </p:sp>
      <p:sp>
        <p:nvSpPr>
          <p:cNvPr id="47" name="Text 45"/>
          <p:cNvSpPr/>
          <p:nvPr/>
        </p:nvSpPr>
        <p:spPr>
          <a:xfrm>
            <a:off x="3300984" y="4398264"/>
            <a:ext cx="804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5E6A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MobileViT-S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4197096" y="2126248"/>
            <a:ext cx="768096" cy="2198864"/>
          </a:xfrm>
          <a:prstGeom prst="rect">
            <a:avLst/>
          </a:prstGeom>
          <a:solidFill>
            <a:srgbClr val="5E6A73"/>
          </a:solidFill>
          <a:ln w="12700">
            <a:solidFill>
              <a:srgbClr val="5E6A73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151376" y="1925080"/>
            <a:ext cx="859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0.552</a:t>
            </a:r>
            <a:endParaRPr lang="en-US" sz="820" dirty="0"/>
          </a:p>
        </p:txBody>
      </p:sp>
      <p:sp>
        <p:nvSpPr>
          <p:cNvPr id="50" name="Text 48"/>
          <p:cNvSpPr/>
          <p:nvPr/>
        </p:nvSpPr>
        <p:spPr>
          <a:xfrm>
            <a:off x="4178808" y="4398264"/>
            <a:ext cx="804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5E6A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EffFormer-L1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5074920" y="1902337"/>
            <a:ext cx="768096" cy="2422775"/>
          </a:xfrm>
          <a:prstGeom prst="rect">
            <a:avLst/>
          </a:prstGeom>
          <a:solidFill>
            <a:srgbClr val="0D2A3A"/>
          </a:solidFill>
          <a:ln w="12700">
            <a:solidFill>
              <a:srgbClr val="0D2A3A">
                <a:alpha val="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029200" y="1701169"/>
            <a:ext cx="859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0.608</a:t>
            </a:r>
            <a:endParaRPr lang="en-US" sz="820" dirty="0"/>
          </a:p>
        </p:txBody>
      </p:sp>
      <p:sp>
        <p:nvSpPr>
          <p:cNvPr id="53" name="Text 51"/>
          <p:cNvSpPr/>
          <p:nvPr/>
        </p:nvSpPr>
        <p:spPr>
          <a:xfrm>
            <a:off x="5056632" y="4398264"/>
            <a:ext cx="804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5E6A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Hybrid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5952744" y="1760102"/>
            <a:ext cx="768096" cy="2565010"/>
          </a:xfrm>
          <a:prstGeom prst="rect">
            <a:avLst/>
          </a:prstGeom>
          <a:solidFill>
            <a:srgbClr val="D99B5A"/>
          </a:solidFill>
          <a:ln w="12700">
            <a:solidFill>
              <a:srgbClr val="D99B5A">
                <a:alpha val="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907024" y="1558934"/>
            <a:ext cx="859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0.644</a:t>
            </a:r>
            <a:endParaRPr lang="en-US" sz="820" dirty="0"/>
          </a:p>
        </p:txBody>
      </p:sp>
      <p:sp>
        <p:nvSpPr>
          <p:cNvPr id="56" name="Text 54"/>
          <p:cNvSpPr/>
          <p:nvPr/>
        </p:nvSpPr>
        <p:spPr>
          <a:xfrm>
            <a:off x="5934456" y="4398264"/>
            <a:ext cx="804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5E6A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DEKAN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685800" y="1234440"/>
            <a:ext cx="6035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BMA comparison</a:t>
            </a:r>
            <a:endParaRPr lang="en-US" sz="1400" dirty="0"/>
          </a:p>
        </p:txBody>
      </p:sp>
      <p:graphicFrame>
        <p:nvGraphicFramePr>
          <p:cNvPr id="5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86600" y="1536192"/>
          <a:ext cx="4498848" cy="205740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66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66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66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Model</a:t>
                      </a:r>
                      <a:endParaRPr lang="en-US" sz="9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Params</a:t>
                      </a:r>
                      <a:endParaRPr lang="en-US" sz="9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BMA</a:t>
                      </a:r>
                      <a:endParaRPr lang="en-US" sz="9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Macro-F1</a:t>
                      </a:r>
                      <a:endParaRPr lang="en-US" sz="9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Macro-AUC</a:t>
                      </a:r>
                      <a:endParaRPr lang="en-US" sz="9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Accuracy</a:t>
                      </a:r>
                      <a:endParaRPr lang="en-US" sz="9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30" dirty="0">
                          <a:solidFill>
                            <a:srgbClr val="1F29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Hybrid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30" dirty="0">
                          <a:solidFill>
                            <a:srgbClr val="1F29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3.98M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30" dirty="0">
                          <a:solidFill>
                            <a:srgbClr val="1F29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0.6081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30" dirty="0">
                          <a:solidFill>
                            <a:srgbClr val="1F29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0.5602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30" dirty="0">
                          <a:solidFill>
                            <a:srgbClr val="1F29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0.9229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30" dirty="0">
                          <a:solidFill>
                            <a:srgbClr val="1F29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0.7162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30" dirty="0">
                          <a:solidFill>
                            <a:srgbClr val="1F29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DEKAN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30" dirty="0">
                          <a:solidFill>
                            <a:srgbClr val="1F29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16.45M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30" dirty="0">
                          <a:solidFill>
                            <a:srgbClr val="1F29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0.6438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30" dirty="0">
                          <a:solidFill>
                            <a:srgbClr val="1F29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0.6059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30" dirty="0">
                          <a:solidFill>
                            <a:srgbClr val="1F29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0.9271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30" dirty="0">
                          <a:solidFill>
                            <a:srgbClr val="1F29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0.7467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30" dirty="0">
                          <a:solidFill>
                            <a:srgbClr val="1F29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MobileViT-S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30" dirty="0">
                          <a:solidFill>
                            <a:srgbClr val="1F29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5.60M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30" dirty="0">
                          <a:solidFill>
                            <a:srgbClr val="1F29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0.6020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30" dirty="0">
                          <a:solidFill>
                            <a:srgbClr val="1F29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0.5354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30" dirty="0">
                          <a:solidFill>
                            <a:srgbClr val="1F29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0.9218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30" dirty="0">
                          <a:solidFill>
                            <a:srgbClr val="1F29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0.6981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9" name="Text 56"/>
          <p:cNvSpPr/>
          <p:nvPr/>
        </p:nvSpPr>
        <p:spPr>
          <a:xfrm>
            <a:off x="7132320" y="3977640"/>
            <a:ext cx="4297680" cy="10972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/>
          </a:bodyPr>
          <a:lstStyle/>
          <a:p>
            <a:pPr marL="127000" indent="-127000">
              <a:buSzPct val="100000"/>
              <a:buChar char="•"/>
            </a:pPr>
            <a:r>
              <a:rPr lang="en-US" sz="145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Hybrid has the best BMA under the 6M-parameter budget.</a:t>
            </a:r>
            <a:endParaRPr lang="en-US" sz="1450" dirty="0"/>
          </a:p>
          <a:p>
            <a:pPr marL="127000" indent="-127000">
              <a:buSzPct val="100000"/>
              <a:buChar char="•"/>
            </a:pPr>
            <a:r>
              <a:rPr lang="en-US" sz="145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DEKAN leads every reported metric, with higher parameter and compute cost.</a:t>
            </a:r>
            <a:endParaRPr lang="en-US" sz="1450" dirty="0"/>
          </a:p>
          <a:p>
            <a:pPr marL="127000" indent="-127000">
              <a:buSzPct val="100000"/>
              <a:buChar char="•"/>
            </a:pPr>
            <a:r>
              <a:rPr lang="en-US" sz="145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Both proposed models outperform the CNN baselines on balanced accuracy.</a:t>
            </a:r>
            <a:endParaRPr lang="en-US" sz="14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Open photo NaN">
            <a:extLst>
              <a:ext uri="{FF2B5EF4-FFF2-40B4-BE49-F238E27FC236}">
                <a16:creationId xmlns:a16="http://schemas.microsoft.com/office/drawing/2014/main" id="{4D1FFD1F-F4B4-2BB7-AA81-850D260035A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011" t="5582" r="4917" b="5142"/>
          <a:stretch>
            <a:fillRect/>
          </a:stretch>
        </p:blipFill>
        <p:spPr>
          <a:xfrm>
            <a:off x="183402" y="304994"/>
            <a:ext cx="5879037" cy="3124006"/>
          </a:xfrm>
          <a:prstGeom prst="rect">
            <a:avLst/>
          </a:prstGeom>
        </p:spPr>
      </p:pic>
      <p:pic>
        <p:nvPicPr>
          <p:cNvPr id="4" name="Picture 3" descr="Open photo NaN">
            <a:extLst>
              <a:ext uri="{FF2B5EF4-FFF2-40B4-BE49-F238E27FC236}">
                <a16:creationId xmlns:a16="http://schemas.microsoft.com/office/drawing/2014/main" id="{356E5FC9-5AC0-E45F-4958-1C2C4B18869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864" t="5562" r="5265"/>
          <a:stretch>
            <a:fillRect/>
          </a:stretch>
        </p:blipFill>
        <p:spPr>
          <a:xfrm>
            <a:off x="2393561" y="3471459"/>
            <a:ext cx="3702439" cy="3124005"/>
          </a:xfrm>
          <a:prstGeom prst="rect">
            <a:avLst/>
          </a:prstGeom>
        </p:spPr>
      </p:pic>
      <p:pic>
        <p:nvPicPr>
          <p:cNvPr id="5" name="Picture 4" descr="Open photo NaN">
            <a:extLst>
              <a:ext uri="{FF2B5EF4-FFF2-40B4-BE49-F238E27FC236}">
                <a16:creationId xmlns:a16="http://schemas.microsoft.com/office/drawing/2014/main" id="{2D2F52DA-85FC-7E93-C2F9-3DE1777A0C8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878" t="2733" r="6001"/>
          <a:stretch>
            <a:fillRect/>
          </a:stretch>
        </p:blipFill>
        <p:spPr>
          <a:xfrm>
            <a:off x="6224990" y="3513918"/>
            <a:ext cx="3702439" cy="3039086"/>
          </a:xfrm>
          <a:prstGeom prst="rect">
            <a:avLst/>
          </a:prstGeom>
        </p:spPr>
      </p:pic>
      <p:pic>
        <p:nvPicPr>
          <p:cNvPr id="7" name="Picture 6" descr="Open photo">
            <a:extLst>
              <a:ext uri="{FF2B5EF4-FFF2-40B4-BE49-F238E27FC236}">
                <a16:creationId xmlns:a16="http://schemas.microsoft.com/office/drawing/2014/main" id="{938CE551-941E-9E21-46F3-394F48DBDB5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411" t="2371" r="4256" b="5228"/>
          <a:stretch>
            <a:fillRect/>
          </a:stretch>
        </p:blipFill>
        <p:spPr>
          <a:xfrm>
            <a:off x="6081895" y="295266"/>
            <a:ext cx="5932054" cy="3124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01454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43800" y="45720"/>
            <a:ext cx="1097280" cy="36576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8641080" y="411480"/>
            <a:ext cx="1143000" cy="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9784080" y="91440"/>
            <a:ext cx="1051560" cy="54864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835640" y="640080"/>
            <a:ext cx="1005840" cy="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8641080" y="411480"/>
            <a:ext cx="0" cy="82296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8183880" y="1234440"/>
            <a:ext cx="1097280" cy="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9281160" y="1005840"/>
            <a:ext cx="1005840" cy="50292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10287000" y="1508760"/>
            <a:ext cx="1188720" cy="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8183880" y="1234440"/>
            <a:ext cx="594360" cy="91440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8778240" y="2148840"/>
            <a:ext cx="1051560" cy="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9829800" y="1874520"/>
            <a:ext cx="1234440" cy="45720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9281160" y="1005840"/>
            <a:ext cx="548640" cy="86868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10835640" y="640080"/>
            <a:ext cx="640080" cy="50292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11475720" y="1143000"/>
            <a:ext cx="0" cy="118872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9784080" y="91440"/>
            <a:ext cx="0" cy="91440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7507224" y="9144"/>
            <a:ext cx="73152" cy="73152"/>
          </a:xfrm>
          <a:prstGeom prst="ellipse">
            <a:avLst/>
          </a:prstGeom>
          <a:solidFill>
            <a:srgbClr val="D7DDE2">
              <a:alpha val="80000"/>
            </a:srgbClr>
          </a:solidFill>
          <a:ln w="12700">
            <a:solidFill>
              <a:srgbClr val="D7DDE2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8604504" y="374904"/>
            <a:ext cx="73152" cy="73152"/>
          </a:xfrm>
          <a:prstGeom prst="ellipse">
            <a:avLst/>
          </a:prstGeom>
          <a:solidFill>
            <a:srgbClr val="D7DDE2">
              <a:alpha val="80000"/>
            </a:srgbClr>
          </a:solidFill>
          <a:ln w="12700">
            <a:solidFill>
              <a:srgbClr val="D7DDE2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9747504" y="54864"/>
            <a:ext cx="73152" cy="73152"/>
          </a:xfrm>
          <a:prstGeom prst="ellipse">
            <a:avLst/>
          </a:prstGeom>
          <a:solidFill>
            <a:srgbClr val="D7DDE2">
              <a:alpha val="80000"/>
            </a:srgbClr>
          </a:solidFill>
          <a:ln w="12700">
            <a:solidFill>
              <a:srgbClr val="D7DDE2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10799064" y="603504"/>
            <a:ext cx="73152" cy="73152"/>
          </a:xfrm>
          <a:prstGeom prst="ellipse">
            <a:avLst/>
          </a:prstGeom>
          <a:solidFill>
            <a:srgbClr val="D7DDE2">
              <a:alpha val="80000"/>
            </a:srgbClr>
          </a:solidFill>
          <a:ln w="12700">
            <a:solidFill>
              <a:srgbClr val="D7DDE2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11804904" y="146304"/>
            <a:ext cx="73152" cy="73152"/>
          </a:xfrm>
          <a:prstGeom prst="ellipse">
            <a:avLst/>
          </a:prstGeom>
          <a:solidFill>
            <a:srgbClr val="D7DDE2">
              <a:alpha val="80000"/>
            </a:srgbClr>
          </a:solidFill>
          <a:ln w="12700">
            <a:solidFill>
              <a:srgbClr val="D7DDE2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8147304" y="1197864"/>
            <a:ext cx="73152" cy="73152"/>
          </a:xfrm>
          <a:prstGeom prst="ellipse">
            <a:avLst/>
          </a:prstGeom>
          <a:solidFill>
            <a:srgbClr val="D7DDE2">
              <a:alpha val="80000"/>
            </a:srgbClr>
          </a:solidFill>
          <a:ln w="12700">
            <a:solidFill>
              <a:srgbClr val="D7DDE2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9244584" y="969264"/>
            <a:ext cx="73152" cy="73152"/>
          </a:xfrm>
          <a:prstGeom prst="ellipse">
            <a:avLst/>
          </a:prstGeom>
          <a:solidFill>
            <a:srgbClr val="D7DDE2">
              <a:alpha val="80000"/>
            </a:srgbClr>
          </a:solidFill>
          <a:ln w="12700">
            <a:solidFill>
              <a:srgbClr val="D7DDE2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10250424" y="1472184"/>
            <a:ext cx="73152" cy="73152"/>
          </a:xfrm>
          <a:prstGeom prst="ellipse">
            <a:avLst/>
          </a:prstGeom>
          <a:solidFill>
            <a:srgbClr val="D7DDE2">
              <a:alpha val="80000"/>
            </a:srgbClr>
          </a:solidFill>
          <a:ln w="12700">
            <a:solidFill>
              <a:srgbClr val="D7DDE2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11439144" y="1106424"/>
            <a:ext cx="73152" cy="73152"/>
          </a:xfrm>
          <a:prstGeom prst="ellipse">
            <a:avLst/>
          </a:prstGeom>
          <a:solidFill>
            <a:srgbClr val="D7DDE2">
              <a:alpha val="80000"/>
            </a:srgbClr>
          </a:solidFill>
          <a:ln w="12700">
            <a:solidFill>
              <a:srgbClr val="D7DDE2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8741664" y="2112264"/>
            <a:ext cx="73152" cy="73152"/>
          </a:xfrm>
          <a:prstGeom prst="ellipse">
            <a:avLst/>
          </a:prstGeom>
          <a:solidFill>
            <a:srgbClr val="D7DDE2">
              <a:alpha val="80000"/>
            </a:srgbClr>
          </a:solidFill>
          <a:ln w="12700">
            <a:solidFill>
              <a:srgbClr val="D7DDE2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9793224" y="1837944"/>
            <a:ext cx="73152" cy="73152"/>
          </a:xfrm>
          <a:prstGeom prst="ellipse">
            <a:avLst/>
          </a:prstGeom>
          <a:solidFill>
            <a:srgbClr val="D7DDE2">
              <a:alpha val="80000"/>
            </a:srgbClr>
          </a:solidFill>
          <a:ln w="12700">
            <a:solidFill>
              <a:srgbClr val="D7DDE2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11027664" y="2295144"/>
            <a:ext cx="73152" cy="73152"/>
          </a:xfrm>
          <a:prstGeom prst="ellipse">
            <a:avLst/>
          </a:prstGeom>
          <a:solidFill>
            <a:srgbClr val="D7DDE2">
              <a:alpha val="80000"/>
            </a:srgbClr>
          </a:solidFill>
          <a:ln w="12700">
            <a:solidFill>
              <a:srgbClr val="D7DDE2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594360" y="384048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Per-Class Recall Analysis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621792" y="89611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E6A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diagnoses improve and where the models still struggle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94360" y="1133856"/>
            <a:ext cx="10835640" cy="0"/>
          </a:xfrm>
          <a:prstGeom prst="line">
            <a:avLst/>
          </a:prstGeom>
          <a:noFill/>
          <a:ln w="15240">
            <a:solidFill>
              <a:srgbClr val="1E1E1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Shape 3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Shape 31"/>
          <p:cNvSpPr/>
          <p:nvPr/>
        </p:nvSpPr>
        <p:spPr>
          <a:xfrm>
            <a:off x="0" y="6364224"/>
            <a:ext cx="5074920" cy="384048"/>
          </a:xfrm>
          <a:prstGeom prst="parallelogram">
            <a:avLst/>
          </a:prstGeom>
          <a:solidFill>
            <a:srgbClr val="B7D0DC"/>
          </a:solidFill>
          <a:ln w="12700">
            <a:solidFill>
              <a:srgbClr val="B7D0DC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11722608" y="651967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22960" y="1591056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MEL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1508760" y="1581912"/>
            <a:ext cx="5760720" cy="73152"/>
          </a:xfrm>
          <a:prstGeom prst="rect">
            <a:avLst/>
          </a:prstGeom>
          <a:solidFill>
            <a:srgbClr val="E7EDF1"/>
          </a:solidFill>
          <a:ln w="12700">
            <a:solidFill>
              <a:srgbClr val="E7EDF1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Shape 35"/>
          <p:cNvSpPr/>
          <p:nvPr/>
        </p:nvSpPr>
        <p:spPr>
          <a:xfrm>
            <a:off x="1508760" y="1673352"/>
            <a:ext cx="5760720" cy="73152"/>
          </a:xfrm>
          <a:prstGeom prst="rect">
            <a:avLst/>
          </a:prstGeom>
          <a:solidFill>
            <a:srgbClr val="E7EDF1"/>
          </a:solidFill>
          <a:ln w="12700">
            <a:solidFill>
              <a:srgbClr val="E7EDF1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Shape 36"/>
          <p:cNvSpPr/>
          <p:nvPr/>
        </p:nvSpPr>
        <p:spPr>
          <a:xfrm>
            <a:off x="1508760" y="1545336"/>
            <a:ext cx="2984053" cy="109728"/>
          </a:xfrm>
          <a:prstGeom prst="rect">
            <a:avLst/>
          </a:prstGeom>
          <a:solidFill>
            <a:srgbClr val="0D2A3A"/>
          </a:solidFill>
          <a:ln w="12700">
            <a:solidFill>
              <a:srgbClr val="0D2A3A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Shape 37"/>
          <p:cNvSpPr/>
          <p:nvPr/>
        </p:nvSpPr>
        <p:spPr>
          <a:xfrm>
            <a:off x="1508760" y="1673352"/>
            <a:ext cx="3519800" cy="109728"/>
          </a:xfrm>
          <a:prstGeom prst="rect">
            <a:avLst/>
          </a:prstGeom>
          <a:solidFill>
            <a:srgbClr val="D99B5A"/>
          </a:solidFill>
          <a:ln w="12700">
            <a:solidFill>
              <a:srgbClr val="D99B5A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Text 38"/>
          <p:cNvSpPr/>
          <p:nvPr/>
        </p:nvSpPr>
        <p:spPr>
          <a:xfrm>
            <a:off x="5065136" y="1655064"/>
            <a:ext cx="3200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E6A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0.61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822960" y="2076831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NV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1508760" y="2067687"/>
            <a:ext cx="5760720" cy="73152"/>
          </a:xfrm>
          <a:prstGeom prst="rect">
            <a:avLst/>
          </a:prstGeom>
          <a:solidFill>
            <a:srgbClr val="E7EDF1"/>
          </a:solidFill>
          <a:ln w="12700">
            <a:solidFill>
              <a:srgbClr val="E7EDF1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Shape 41"/>
          <p:cNvSpPr/>
          <p:nvPr/>
        </p:nvSpPr>
        <p:spPr>
          <a:xfrm>
            <a:off x="1508760" y="2159127"/>
            <a:ext cx="5760720" cy="73152"/>
          </a:xfrm>
          <a:prstGeom prst="rect">
            <a:avLst/>
          </a:prstGeom>
          <a:solidFill>
            <a:srgbClr val="E7EDF1"/>
          </a:solidFill>
          <a:ln w="12700">
            <a:solidFill>
              <a:srgbClr val="E7EDF1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Shape 42"/>
          <p:cNvSpPr/>
          <p:nvPr/>
        </p:nvSpPr>
        <p:spPr>
          <a:xfrm>
            <a:off x="1508760" y="2031111"/>
            <a:ext cx="4948458" cy="109728"/>
          </a:xfrm>
          <a:prstGeom prst="rect">
            <a:avLst/>
          </a:prstGeom>
          <a:solidFill>
            <a:srgbClr val="0D2A3A"/>
          </a:solidFill>
          <a:ln w="12700">
            <a:solidFill>
              <a:srgbClr val="0D2A3A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Shape 43"/>
          <p:cNvSpPr/>
          <p:nvPr/>
        </p:nvSpPr>
        <p:spPr>
          <a:xfrm>
            <a:off x="1508760" y="2159127"/>
            <a:ext cx="4948458" cy="109728"/>
          </a:xfrm>
          <a:prstGeom prst="rect">
            <a:avLst/>
          </a:prstGeom>
          <a:solidFill>
            <a:srgbClr val="D99B5A"/>
          </a:solidFill>
          <a:ln w="12700">
            <a:solidFill>
              <a:srgbClr val="D99B5A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Text 44"/>
          <p:cNvSpPr/>
          <p:nvPr/>
        </p:nvSpPr>
        <p:spPr>
          <a:xfrm>
            <a:off x="6493794" y="2140839"/>
            <a:ext cx="3200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E6A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0.86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822960" y="2562606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BCC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1508760" y="2553462"/>
            <a:ext cx="5760720" cy="73152"/>
          </a:xfrm>
          <a:prstGeom prst="rect">
            <a:avLst/>
          </a:prstGeom>
          <a:solidFill>
            <a:srgbClr val="E7EDF1"/>
          </a:solidFill>
          <a:ln w="12700">
            <a:solidFill>
              <a:srgbClr val="E7EDF1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Shape 47"/>
          <p:cNvSpPr/>
          <p:nvPr/>
        </p:nvSpPr>
        <p:spPr>
          <a:xfrm>
            <a:off x="1508760" y="2644902"/>
            <a:ext cx="5760720" cy="73152"/>
          </a:xfrm>
          <a:prstGeom prst="rect">
            <a:avLst/>
          </a:prstGeom>
          <a:solidFill>
            <a:srgbClr val="E7EDF1"/>
          </a:solidFill>
          <a:ln w="12700">
            <a:solidFill>
              <a:srgbClr val="E7EDF1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" name="Shape 48"/>
          <p:cNvSpPr/>
          <p:nvPr/>
        </p:nvSpPr>
        <p:spPr>
          <a:xfrm>
            <a:off x="1508760" y="2516886"/>
            <a:ext cx="3560125" cy="109728"/>
          </a:xfrm>
          <a:prstGeom prst="rect">
            <a:avLst/>
          </a:prstGeom>
          <a:solidFill>
            <a:srgbClr val="0D2A3A"/>
          </a:solidFill>
          <a:ln w="12700">
            <a:solidFill>
              <a:srgbClr val="0D2A3A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Shape 49"/>
          <p:cNvSpPr/>
          <p:nvPr/>
        </p:nvSpPr>
        <p:spPr>
          <a:xfrm>
            <a:off x="1508760" y="2644902"/>
            <a:ext cx="4211086" cy="109728"/>
          </a:xfrm>
          <a:prstGeom prst="rect">
            <a:avLst/>
          </a:prstGeom>
          <a:solidFill>
            <a:srgbClr val="D99B5A"/>
          </a:solidFill>
          <a:ln w="12700">
            <a:solidFill>
              <a:srgbClr val="D99B5A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2" name="Text 50"/>
          <p:cNvSpPr/>
          <p:nvPr/>
        </p:nvSpPr>
        <p:spPr>
          <a:xfrm>
            <a:off x="5756422" y="2626614"/>
            <a:ext cx="3200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E6A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0.73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822960" y="3048381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AK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1508760" y="3039237"/>
            <a:ext cx="5760720" cy="73152"/>
          </a:xfrm>
          <a:prstGeom prst="rect">
            <a:avLst/>
          </a:prstGeom>
          <a:solidFill>
            <a:srgbClr val="E7EDF1"/>
          </a:solidFill>
          <a:ln w="12700">
            <a:solidFill>
              <a:srgbClr val="E7EDF1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Shape 53"/>
          <p:cNvSpPr/>
          <p:nvPr/>
        </p:nvSpPr>
        <p:spPr>
          <a:xfrm>
            <a:off x="1508760" y="3130677"/>
            <a:ext cx="5760720" cy="73152"/>
          </a:xfrm>
          <a:prstGeom prst="rect">
            <a:avLst/>
          </a:prstGeom>
          <a:solidFill>
            <a:srgbClr val="E7EDF1"/>
          </a:solidFill>
          <a:ln w="12700">
            <a:solidFill>
              <a:srgbClr val="E7EDF1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6" name="Shape 54"/>
          <p:cNvSpPr/>
          <p:nvPr/>
        </p:nvSpPr>
        <p:spPr>
          <a:xfrm>
            <a:off x="1508760" y="3002661"/>
            <a:ext cx="3381543" cy="109728"/>
          </a:xfrm>
          <a:prstGeom prst="rect">
            <a:avLst/>
          </a:prstGeom>
          <a:solidFill>
            <a:srgbClr val="0D2A3A"/>
          </a:solidFill>
          <a:ln w="12700">
            <a:solidFill>
              <a:srgbClr val="0D2A3A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Shape 55"/>
          <p:cNvSpPr/>
          <p:nvPr/>
        </p:nvSpPr>
        <p:spPr>
          <a:xfrm>
            <a:off x="1508760" y="3130677"/>
            <a:ext cx="2119945" cy="109728"/>
          </a:xfrm>
          <a:prstGeom prst="rect">
            <a:avLst/>
          </a:prstGeom>
          <a:solidFill>
            <a:srgbClr val="D99B5A"/>
          </a:solidFill>
          <a:ln w="12700">
            <a:solidFill>
              <a:srgbClr val="D99B5A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8" name="Text 56"/>
          <p:cNvSpPr/>
          <p:nvPr/>
        </p:nvSpPr>
        <p:spPr>
          <a:xfrm>
            <a:off x="3665281" y="3112389"/>
            <a:ext cx="3200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E6A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0.37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822960" y="3534156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BKL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1508760" y="3525012"/>
            <a:ext cx="5760720" cy="73152"/>
          </a:xfrm>
          <a:prstGeom prst="rect">
            <a:avLst/>
          </a:prstGeom>
          <a:solidFill>
            <a:srgbClr val="E7EDF1"/>
          </a:solidFill>
          <a:ln w="12700">
            <a:solidFill>
              <a:srgbClr val="E7EDF1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Shape 59"/>
          <p:cNvSpPr/>
          <p:nvPr/>
        </p:nvSpPr>
        <p:spPr>
          <a:xfrm>
            <a:off x="1508760" y="3616452"/>
            <a:ext cx="5760720" cy="73152"/>
          </a:xfrm>
          <a:prstGeom prst="rect">
            <a:avLst/>
          </a:prstGeom>
          <a:solidFill>
            <a:srgbClr val="E7EDF1"/>
          </a:solidFill>
          <a:ln w="12700">
            <a:solidFill>
              <a:srgbClr val="E7EDF1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2" name="Shape 60"/>
          <p:cNvSpPr/>
          <p:nvPr/>
        </p:nvSpPr>
        <p:spPr>
          <a:xfrm>
            <a:off x="1508760" y="3488436"/>
            <a:ext cx="3640775" cy="109728"/>
          </a:xfrm>
          <a:prstGeom prst="rect">
            <a:avLst/>
          </a:prstGeom>
          <a:solidFill>
            <a:srgbClr val="0D2A3A"/>
          </a:solidFill>
          <a:ln w="12700">
            <a:solidFill>
              <a:srgbClr val="0D2A3A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3" name="Shape 61"/>
          <p:cNvSpPr/>
          <p:nvPr/>
        </p:nvSpPr>
        <p:spPr>
          <a:xfrm>
            <a:off x="1508760" y="3616452"/>
            <a:ext cx="3583168" cy="109728"/>
          </a:xfrm>
          <a:prstGeom prst="rect">
            <a:avLst/>
          </a:prstGeom>
          <a:solidFill>
            <a:srgbClr val="D99B5A"/>
          </a:solidFill>
          <a:ln w="12700">
            <a:solidFill>
              <a:srgbClr val="D99B5A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4" name="Text 62"/>
          <p:cNvSpPr/>
          <p:nvPr/>
        </p:nvSpPr>
        <p:spPr>
          <a:xfrm>
            <a:off x="5128504" y="3598164"/>
            <a:ext cx="3200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E6A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0.62</a:t>
            </a:r>
            <a:endParaRPr lang="en-US" sz="750" dirty="0"/>
          </a:p>
        </p:txBody>
      </p:sp>
      <p:sp>
        <p:nvSpPr>
          <p:cNvPr id="65" name="Text 63"/>
          <p:cNvSpPr/>
          <p:nvPr/>
        </p:nvSpPr>
        <p:spPr>
          <a:xfrm>
            <a:off x="822960" y="4019931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DF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1508760" y="4010787"/>
            <a:ext cx="5760720" cy="73152"/>
          </a:xfrm>
          <a:prstGeom prst="rect">
            <a:avLst/>
          </a:prstGeom>
          <a:solidFill>
            <a:srgbClr val="E7EDF1"/>
          </a:solidFill>
          <a:ln w="12700">
            <a:solidFill>
              <a:srgbClr val="E7EDF1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7" name="Shape 65"/>
          <p:cNvSpPr/>
          <p:nvPr/>
        </p:nvSpPr>
        <p:spPr>
          <a:xfrm>
            <a:off x="1508760" y="4102227"/>
            <a:ext cx="5760720" cy="73152"/>
          </a:xfrm>
          <a:prstGeom prst="rect">
            <a:avLst/>
          </a:prstGeom>
          <a:solidFill>
            <a:srgbClr val="E7EDF1"/>
          </a:solidFill>
          <a:ln w="12700">
            <a:solidFill>
              <a:srgbClr val="E7EDF1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8" name="Shape 66"/>
          <p:cNvSpPr/>
          <p:nvPr/>
        </p:nvSpPr>
        <p:spPr>
          <a:xfrm>
            <a:off x="1508760" y="3974211"/>
            <a:ext cx="3260568" cy="109728"/>
          </a:xfrm>
          <a:prstGeom prst="rect">
            <a:avLst/>
          </a:prstGeom>
          <a:solidFill>
            <a:srgbClr val="0D2A3A"/>
          </a:solidFill>
          <a:ln w="12700">
            <a:solidFill>
              <a:srgbClr val="0D2A3A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9" name="Shape 67"/>
          <p:cNvSpPr/>
          <p:nvPr/>
        </p:nvSpPr>
        <p:spPr>
          <a:xfrm>
            <a:off x="1508760" y="4102227"/>
            <a:ext cx="2932206" cy="109728"/>
          </a:xfrm>
          <a:prstGeom prst="rect">
            <a:avLst/>
          </a:prstGeom>
          <a:solidFill>
            <a:srgbClr val="D99B5A"/>
          </a:solidFill>
          <a:ln w="12700">
            <a:solidFill>
              <a:srgbClr val="D99B5A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0" name="Text 68"/>
          <p:cNvSpPr/>
          <p:nvPr/>
        </p:nvSpPr>
        <p:spPr>
          <a:xfrm>
            <a:off x="4477542" y="4083939"/>
            <a:ext cx="3200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E6A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0.51</a:t>
            </a:r>
            <a:endParaRPr lang="en-US" sz="750" dirty="0"/>
          </a:p>
        </p:txBody>
      </p:sp>
      <p:sp>
        <p:nvSpPr>
          <p:cNvPr id="71" name="Text 69"/>
          <p:cNvSpPr/>
          <p:nvPr/>
        </p:nvSpPr>
        <p:spPr>
          <a:xfrm>
            <a:off x="822960" y="4505706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VASC</a:t>
            </a:r>
            <a:endParaRPr lang="en-US" sz="1050" dirty="0"/>
          </a:p>
        </p:txBody>
      </p:sp>
      <p:sp>
        <p:nvSpPr>
          <p:cNvPr id="72" name="Shape 70"/>
          <p:cNvSpPr/>
          <p:nvPr/>
        </p:nvSpPr>
        <p:spPr>
          <a:xfrm>
            <a:off x="1508760" y="4496562"/>
            <a:ext cx="5760720" cy="73152"/>
          </a:xfrm>
          <a:prstGeom prst="rect">
            <a:avLst/>
          </a:prstGeom>
          <a:solidFill>
            <a:srgbClr val="E7EDF1"/>
          </a:solidFill>
          <a:ln w="12700">
            <a:solidFill>
              <a:srgbClr val="E7EDF1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3" name="Shape 71"/>
          <p:cNvSpPr/>
          <p:nvPr/>
        </p:nvSpPr>
        <p:spPr>
          <a:xfrm>
            <a:off x="1508760" y="4588002"/>
            <a:ext cx="5760720" cy="73152"/>
          </a:xfrm>
          <a:prstGeom prst="rect">
            <a:avLst/>
          </a:prstGeom>
          <a:solidFill>
            <a:srgbClr val="E7EDF1"/>
          </a:solidFill>
          <a:ln w="12700">
            <a:solidFill>
              <a:srgbClr val="E7EDF1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4" name="Shape 72"/>
          <p:cNvSpPr/>
          <p:nvPr/>
        </p:nvSpPr>
        <p:spPr>
          <a:xfrm>
            <a:off x="1508760" y="4459986"/>
            <a:ext cx="4971501" cy="109728"/>
          </a:xfrm>
          <a:prstGeom prst="rect">
            <a:avLst/>
          </a:prstGeom>
          <a:solidFill>
            <a:srgbClr val="0D2A3A"/>
          </a:solidFill>
          <a:ln w="12700">
            <a:solidFill>
              <a:srgbClr val="0D2A3A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5" name="Shape 73"/>
          <p:cNvSpPr/>
          <p:nvPr/>
        </p:nvSpPr>
        <p:spPr>
          <a:xfrm>
            <a:off x="1508760" y="4588002"/>
            <a:ext cx="5311384" cy="109728"/>
          </a:xfrm>
          <a:prstGeom prst="rect">
            <a:avLst/>
          </a:prstGeom>
          <a:solidFill>
            <a:srgbClr val="D99B5A"/>
          </a:solidFill>
          <a:ln w="12700">
            <a:solidFill>
              <a:srgbClr val="D99B5A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6" name="Text 74"/>
          <p:cNvSpPr/>
          <p:nvPr/>
        </p:nvSpPr>
        <p:spPr>
          <a:xfrm>
            <a:off x="6856720" y="4569714"/>
            <a:ext cx="3200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E6A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0.92</a:t>
            </a:r>
            <a:endParaRPr lang="en-US" sz="750" dirty="0"/>
          </a:p>
        </p:txBody>
      </p:sp>
      <p:sp>
        <p:nvSpPr>
          <p:cNvPr id="77" name="Text 75"/>
          <p:cNvSpPr/>
          <p:nvPr/>
        </p:nvSpPr>
        <p:spPr>
          <a:xfrm>
            <a:off x="822960" y="4991481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SCC</a:t>
            </a:r>
            <a:endParaRPr lang="en-US" sz="1050" dirty="0"/>
          </a:p>
        </p:txBody>
      </p:sp>
      <p:sp>
        <p:nvSpPr>
          <p:cNvPr id="78" name="Shape 76"/>
          <p:cNvSpPr/>
          <p:nvPr/>
        </p:nvSpPr>
        <p:spPr>
          <a:xfrm>
            <a:off x="1508760" y="4982337"/>
            <a:ext cx="5760720" cy="73152"/>
          </a:xfrm>
          <a:prstGeom prst="rect">
            <a:avLst/>
          </a:prstGeom>
          <a:solidFill>
            <a:srgbClr val="E7EDF1"/>
          </a:solidFill>
          <a:ln w="12700">
            <a:solidFill>
              <a:srgbClr val="E7EDF1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9" name="Shape 77"/>
          <p:cNvSpPr/>
          <p:nvPr/>
        </p:nvSpPr>
        <p:spPr>
          <a:xfrm>
            <a:off x="1508760" y="5073777"/>
            <a:ext cx="5760720" cy="73152"/>
          </a:xfrm>
          <a:prstGeom prst="rect">
            <a:avLst/>
          </a:prstGeom>
          <a:solidFill>
            <a:srgbClr val="E7EDF1"/>
          </a:solidFill>
          <a:ln w="12700">
            <a:solidFill>
              <a:srgbClr val="E7EDF1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0" name="Shape 78"/>
          <p:cNvSpPr/>
          <p:nvPr/>
        </p:nvSpPr>
        <p:spPr>
          <a:xfrm>
            <a:off x="1508760" y="4945761"/>
            <a:ext cx="1284641" cy="109728"/>
          </a:xfrm>
          <a:prstGeom prst="rect">
            <a:avLst/>
          </a:prstGeom>
          <a:solidFill>
            <a:srgbClr val="0D2A3A"/>
          </a:solidFill>
          <a:ln w="12700">
            <a:solidFill>
              <a:srgbClr val="0D2A3A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1" name="Shape 79"/>
          <p:cNvSpPr/>
          <p:nvPr/>
        </p:nvSpPr>
        <p:spPr>
          <a:xfrm>
            <a:off x="1508760" y="5073777"/>
            <a:ext cx="3047421" cy="109728"/>
          </a:xfrm>
          <a:prstGeom prst="rect">
            <a:avLst/>
          </a:prstGeom>
          <a:solidFill>
            <a:srgbClr val="D99B5A"/>
          </a:solidFill>
          <a:ln w="12700">
            <a:solidFill>
              <a:srgbClr val="D99B5A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2" name="Text 80"/>
          <p:cNvSpPr/>
          <p:nvPr/>
        </p:nvSpPr>
        <p:spPr>
          <a:xfrm>
            <a:off x="4592757" y="5055489"/>
            <a:ext cx="3200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E6A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0.53</a:t>
            </a:r>
            <a:endParaRPr lang="en-US" sz="750" dirty="0"/>
          </a:p>
        </p:txBody>
      </p:sp>
      <p:sp>
        <p:nvSpPr>
          <p:cNvPr id="83" name="Shape 81"/>
          <p:cNvSpPr/>
          <p:nvPr/>
        </p:nvSpPr>
        <p:spPr>
          <a:xfrm>
            <a:off x="1536192" y="5422392"/>
            <a:ext cx="749808" cy="301752"/>
          </a:xfrm>
          <a:prstGeom prst="roundRect">
            <a:avLst>
              <a:gd name="adj" fmla="val 21212"/>
            </a:avLst>
          </a:prstGeom>
          <a:solidFill>
            <a:srgbClr val="0D2A3A">
              <a:alpha val="95000"/>
            </a:srgbClr>
          </a:solidFill>
          <a:ln w="12700">
            <a:solidFill>
              <a:srgbClr val="0D2A3A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4" name="Text 82"/>
          <p:cNvSpPr/>
          <p:nvPr/>
        </p:nvSpPr>
        <p:spPr>
          <a:xfrm>
            <a:off x="1591056" y="5490972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Hybrid</a:t>
            </a:r>
            <a:endParaRPr lang="en-US" sz="950" dirty="0"/>
          </a:p>
        </p:txBody>
      </p:sp>
      <p:sp>
        <p:nvSpPr>
          <p:cNvPr id="85" name="Shape 83"/>
          <p:cNvSpPr/>
          <p:nvPr/>
        </p:nvSpPr>
        <p:spPr>
          <a:xfrm>
            <a:off x="2423160" y="5422392"/>
            <a:ext cx="749808" cy="301752"/>
          </a:xfrm>
          <a:prstGeom prst="roundRect">
            <a:avLst>
              <a:gd name="adj" fmla="val 21212"/>
            </a:avLst>
          </a:prstGeom>
          <a:solidFill>
            <a:srgbClr val="D99B5A">
              <a:alpha val="95000"/>
            </a:srgbClr>
          </a:solidFill>
          <a:ln w="12700">
            <a:solidFill>
              <a:srgbClr val="D99B5A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6" name="Text 84"/>
          <p:cNvSpPr/>
          <p:nvPr/>
        </p:nvSpPr>
        <p:spPr>
          <a:xfrm>
            <a:off x="2478024" y="5490972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DEKAN</a:t>
            </a:r>
            <a:endParaRPr lang="en-US" sz="950" dirty="0"/>
          </a:p>
        </p:txBody>
      </p:sp>
      <p:sp>
        <p:nvSpPr>
          <p:cNvPr id="87" name="Text 85"/>
          <p:cNvSpPr/>
          <p:nvPr/>
        </p:nvSpPr>
        <p:spPr>
          <a:xfrm>
            <a:off x="8028432" y="1600200"/>
            <a:ext cx="3474720" cy="2194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45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Hybrid strengthens hard middle classes such as BCC, AK and BKL compared with EfficientNet-B0.</a:t>
            </a:r>
            <a:endParaRPr lang="en-US" sz="1450" dirty="0"/>
          </a:p>
          <a:p>
            <a:pPr marL="127000" indent="-127000">
              <a:buSzPct val="100000"/>
              <a:buChar char="•"/>
            </a:pPr>
            <a:r>
              <a:rPr lang="en-US" sz="145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DEKAN recovers SCC substantially and reaches the strongest VASC and BCC recall.</a:t>
            </a:r>
            <a:endParaRPr lang="en-US" sz="1450" dirty="0"/>
          </a:p>
          <a:p>
            <a:pPr marL="127000" indent="-127000">
              <a:buSzPct val="100000"/>
              <a:buChar char="•"/>
            </a:pPr>
            <a:r>
              <a:rPr lang="en-US" sz="145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 error cluster remains among keratinocytic classes: AK / BKL / SCC.</a:t>
            </a:r>
            <a:endParaRPr lang="en-US" sz="1450" dirty="0"/>
          </a:p>
          <a:p>
            <a:r>
              <a:rPr sz="1450">
                <a:latin typeface="Aptos"/>
              </a:rPr>
              <a:t>Note: bar labels show DEKAN recall values.</a:t>
            </a:r>
          </a:p>
        </p:txBody>
      </p:sp>
      <p:sp>
        <p:nvSpPr>
          <p:cNvPr id="88" name="Shape 86"/>
          <p:cNvSpPr/>
          <p:nvPr/>
        </p:nvSpPr>
        <p:spPr>
          <a:xfrm>
            <a:off x="8183880" y="4251960"/>
            <a:ext cx="1417320" cy="749808"/>
          </a:xfrm>
          <a:prstGeom prst="roundRect">
            <a:avLst>
              <a:gd name="adj" fmla="val 9756"/>
            </a:avLst>
          </a:prstGeom>
          <a:solidFill>
            <a:srgbClr val="F4F8FA"/>
          </a:solidFill>
          <a:ln w="12700">
            <a:solidFill>
              <a:srgbClr val="B7D0D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9" name="Text 87"/>
          <p:cNvSpPr/>
          <p:nvPr/>
        </p:nvSpPr>
        <p:spPr>
          <a:xfrm>
            <a:off x="8257032" y="4361688"/>
            <a:ext cx="1271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99B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0.922</a:t>
            </a:r>
            <a:endParaRPr lang="en-US" sz="2000" dirty="0"/>
          </a:p>
        </p:txBody>
      </p:sp>
      <p:sp>
        <p:nvSpPr>
          <p:cNvPr id="90" name="Text 88"/>
          <p:cNvSpPr/>
          <p:nvPr/>
        </p:nvSpPr>
        <p:spPr>
          <a:xfrm>
            <a:off x="8257032" y="4818888"/>
            <a:ext cx="1271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E6A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DEKAN VASC recall</a:t>
            </a:r>
            <a:endParaRPr lang="en-US" sz="950" dirty="0"/>
          </a:p>
        </p:txBody>
      </p:sp>
      <p:sp>
        <p:nvSpPr>
          <p:cNvPr id="91" name="Shape 89"/>
          <p:cNvSpPr/>
          <p:nvPr/>
        </p:nvSpPr>
        <p:spPr>
          <a:xfrm>
            <a:off x="9829800" y="4251960"/>
            <a:ext cx="1417320" cy="749808"/>
          </a:xfrm>
          <a:prstGeom prst="roundRect">
            <a:avLst>
              <a:gd name="adj" fmla="val 9756"/>
            </a:avLst>
          </a:prstGeom>
          <a:solidFill>
            <a:srgbClr val="F4F8FA"/>
          </a:solidFill>
          <a:ln w="12700">
            <a:solidFill>
              <a:srgbClr val="B7D0D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2" name="Text 90"/>
          <p:cNvSpPr/>
          <p:nvPr/>
        </p:nvSpPr>
        <p:spPr>
          <a:xfrm>
            <a:off x="9902952" y="4361688"/>
            <a:ext cx="1271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99B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0.731</a:t>
            </a:r>
            <a:endParaRPr lang="en-US" sz="2000" dirty="0"/>
          </a:p>
        </p:txBody>
      </p:sp>
      <p:sp>
        <p:nvSpPr>
          <p:cNvPr id="93" name="Text 91"/>
          <p:cNvSpPr/>
          <p:nvPr/>
        </p:nvSpPr>
        <p:spPr>
          <a:xfrm>
            <a:off x="9902952" y="4818888"/>
            <a:ext cx="1271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E6A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DEKAN BCC recall</a:t>
            </a:r>
            <a:endParaRPr lang="en-US" sz="950" dirty="0"/>
          </a:p>
        </p:txBody>
      </p:sp>
      <p:sp>
        <p:nvSpPr>
          <p:cNvPr id="94" name="Shape 92"/>
          <p:cNvSpPr/>
          <p:nvPr/>
        </p:nvSpPr>
        <p:spPr>
          <a:xfrm>
            <a:off x="9006840" y="5166360"/>
            <a:ext cx="1508760" cy="749808"/>
          </a:xfrm>
          <a:prstGeom prst="roundRect">
            <a:avLst>
              <a:gd name="adj" fmla="val 9756"/>
            </a:avLst>
          </a:prstGeom>
          <a:solidFill>
            <a:srgbClr val="F4F8FA"/>
          </a:solidFill>
          <a:ln w="12700">
            <a:solidFill>
              <a:srgbClr val="B7D0D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5" name="Text 93"/>
          <p:cNvSpPr/>
          <p:nvPr/>
        </p:nvSpPr>
        <p:spPr>
          <a:xfrm>
            <a:off x="9079992" y="5276088"/>
            <a:ext cx="1362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5E5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0.223</a:t>
            </a:r>
            <a:endParaRPr lang="en-US" sz="2000" dirty="0"/>
          </a:p>
        </p:txBody>
      </p:sp>
      <p:sp>
        <p:nvSpPr>
          <p:cNvPr id="96" name="Text 94"/>
          <p:cNvSpPr/>
          <p:nvPr/>
        </p:nvSpPr>
        <p:spPr>
          <a:xfrm>
            <a:off x="9079992" y="5733288"/>
            <a:ext cx="1362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E6A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Hybrid SCC recall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43800" y="45720"/>
            <a:ext cx="1097280" cy="36576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41080" y="411480"/>
            <a:ext cx="1143000" cy="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784080" y="91440"/>
            <a:ext cx="1051560" cy="54864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35640" y="640080"/>
            <a:ext cx="1005840" cy="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41080" y="411480"/>
            <a:ext cx="0" cy="82296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183880" y="1234440"/>
            <a:ext cx="1097280" cy="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281160" y="1005840"/>
            <a:ext cx="1005840" cy="50292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287000" y="1508760"/>
            <a:ext cx="1188720" cy="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183880" y="1234440"/>
            <a:ext cx="594360" cy="91440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778240" y="2148840"/>
            <a:ext cx="1051560" cy="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829800" y="1874520"/>
            <a:ext cx="1234440" cy="45720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281160" y="1005840"/>
            <a:ext cx="548640" cy="86868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835640" y="640080"/>
            <a:ext cx="640080" cy="50292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475720" y="1143000"/>
            <a:ext cx="0" cy="118872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784080" y="91440"/>
            <a:ext cx="0" cy="91440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507224" y="9144"/>
            <a:ext cx="73152" cy="73152"/>
          </a:xfrm>
          <a:prstGeom prst="ellipse">
            <a:avLst/>
          </a:prstGeom>
          <a:solidFill>
            <a:srgbClr val="D7DDE2">
              <a:alpha val="80000"/>
            </a:srgbClr>
          </a:solidFill>
          <a:ln w="12700">
            <a:solidFill>
              <a:srgbClr val="D7DDE2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604504" y="374904"/>
            <a:ext cx="73152" cy="73152"/>
          </a:xfrm>
          <a:prstGeom prst="ellipse">
            <a:avLst/>
          </a:prstGeom>
          <a:solidFill>
            <a:srgbClr val="D7DDE2">
              <a:alpha val="80000"/>
            </a:srgbClr>
          </a:solidFill>
          <a:ln w="12700">
            <a:solidFill>
              <a:srgbClr val="D7DDE2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747504" y="54864"/>
            <a:ext cx="73152" cy="73152"/>
          </a:xfrm>
          <a:prstGeom prst="ellipse">
            <a:avLst/>
          </a:prstGeom>
          <a:solidFill>
            <a:srgbClr val="D7DDE2">
              <a:alpha val="80000"/>
            </a:srgbClr>
          </a:solidFill>
          <a:ln w="12700">
            <a:solidFill>
              <a:srgbClr val="D7DDE2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799064" y="603504"/>
            <a:ext cx="73152" cy="73152"/>
          </a:xfrm>
          <a:prstGeom prst="ellipse">
            <a:avLst/>
          </a:prstGeom>
          <a:solidFill>
            <a:srgbClr val="D7DDE2">
              <a:alpha val="80000"/>
            </a:srgbClr>
          </a:solidFill>
          <a:ln w="12700">
            <a:solidFill>
              <a:srgbClr val="D7DDE2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804904" y="146304"/>
            <a:ext cx="73152" cy="73152"/>
          </a:xfrm>
          <a:prstGeom prst="ellipse">
            <a:avLst/>
          </a:prstGeom>
          <a:solidFill>
            <a:srgbClr val="D7DDE2">
              <a:alpha val="80000"/>
            </a:srgbClr>
          </a:solidFill>
          <a:ln w="12700">
            <a:solidFill>
              <a:srgbClr val="D7DDE2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147304" y="1197864"/>
            <a:ext cx="73152" cy="73152"/>
          </a:xfrm>
          <a:prstGeom prst="ellipse">
            <a:avLst/>
          </a:prstGeom>
          <a:solidFill>
            <a:srgbClr val="D7DDE2">
              <a:alpha val="80000"/>
            </a:srgbClr>
          </a:solidFill>
          <a:ln w="12700">
            <a:solidFill>
              <a:srgbClr val="D7DDE2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244584" y="969264"/>
            <a:ext cx="73152" cy="73152"/>
          </a:xfrm>
          <a:prstGeom prst="ellipse">
            <a:avLst/>
          </a:prstGeom>
          <a:solidFill>
            <a:srgbClr val="D7DDE2">
              <a:alpha val="80000"/>
            </a:srgbClr>
          </a:solidFill>
          <a:ln w="12700">
            <a:solidFill>
              <a:srgbClr val="D7DDE2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250424" y="1472184"/>
            <a:ext cx="73152" cy="73152"/>
          </a:xfrm>
          <a:prstGeom prst="ellipse">
            <a:avLst/>
          </a:prstGeom>
          <a:solidFill>
            <a:srgbClr val="D7DDE2">
              <a:alpha val="80000"/>
            </a:srgbClr>
          </a:solidFill>
          <a:ln w="12700">
            <a:solidFill>
              <a:srgbClr val="D7DDE2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439144" y="1106424"/>
            <a:ext cx="73152" cy="73152"/>
          </a:xfrm>
          <a:prstGeom prst="ellipse">
            <a:avLst/>
          </a:prstGeom>
          <a:solidFill>
            <a:srgbClr val="D7DDE2">
              <a:alpha val="80000"/>
            </a:srgbClr>
          </a:solidFill>
          <a:ln w="12700">
            <a:solidFill>
              <a:srgbClr val="D7DDE2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741664" y="2112264"/>
            <a:ext cx="73152" cy="73152"/>
          </a:xfrm>
          <a:prstGeom prst="ellipse">
            <a:avLst/>
          </a:prstGeom>
          <a:solidFill>
            <a:srgbClr val="D7DDE2">
              <a:alpha val="80000"/>
            </a:srgbClr>
          </a:solidFill>
          <a:ln w="12700">
            <a:solidFill>
              <a:srgbClr val="D7DDE2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793224" y="1837944"/>
            <a:ext cx="73152" cy="73152"/>
          </a:xfrm>
          <a:prstGeom prst="ellipse">
            <a:avLst/>
          </a:prstGeom>
          <a:solidFill>
            <a:srgbClr val="D7DDE2">
              <a:alpha val="80000"/>
            </a:srgbClr>
          </a:solidFill>
          <a:ln w="12700">
            <a:solidFill>
              <a:srgbClr val="D7DDE2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027664" y="2295144"/>
            <a:ext cx="73152" cy="73152"/>
          </a:xfrm>
          <a:prstGeom prst="ellipse">
            <a:avLst/>
          </a:prstGeom>
          <a:solidFill>
            <a:srgbClr val="D7DDE2">
              <a:alpha val="80000"/>
            </a:srgbClr>
          </a:solidFill>
          <a:ln w="12700">
            <a:solidFill>
              <a:srgbClr val="D7DDE2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" y="384048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Efficiency vs Accuracy Trade-off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621792" y="89611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E6A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Reading performance together with parameter budget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94360" y="1133856"/>
            <a:ext cx="10835640" cy="0"/>
          </a:xfrm>
          <a:prstGeom prst="line">
            <a:avLst/>
          </a:prstGeom>
          <a:noFill/>
          <a:ln w="15240">
            <a:solidFill>
              <a:srgbClr val="1E1E1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6364224"/>
            <a:ext cx="5074920" cy="384048"/>
          </a:xfrm>
          <a:prstGeom prst="parallelogram">
            <a:avLst/>
          </a:prstGeom>
          <a:solidFill>
            <a:srgbClr val="B7D0DC"/>
          </a:solidFill>
          <a:ln w="12700">
            <a:solidFill>
              <a:srgbClr val="B7D0DC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1722608" y="651967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868680" y="5532120"/>
            <a:ext cx="6400800" cy="0"/>
          </a:xfrm>
          <a:prstGeom prst="line">
            <a:avLst/>
          </a:prstGeom>
          <a:noFill/>
          <a:ln w="12700">
            <a:solidFill>
              <a:srgbClr val="A7B0B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68680" y="1463040"/>
            <a:ext cx="0" cy="4069080"/>
          </a:xfrm>
          <a:prstGeom prst="line">
            <a:avLst/>
          </a:prstGeom>
          <a:noFill/>
          <a:ln w="12700">
            <a:solidFill>
              <a:srgbClr val="A7B0B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468880" y="1463040"/>
            <a:ext cx="0" cy="4069080"/>
          </a:xfrm>
          <a:prstGeom prst="line">
            <a:avLst/>
          </a:prstGeom>
          <a:noFill/>
          <a:ln w="15240">
            <a:solidFill>
              <a:srgbClr val="C95E5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176272" y="5687568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95E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6M budget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1559052" y="5550408"/>
            <a:ext cx="219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E6A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3159252" y="5550408"/>
            <a:ext cx="219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E6A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759452" y="5550408"/>
            <a:ext cx="219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E6A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359652" y="5550408"/>
            <a:ext cx="219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E6A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457200" y="4388157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E6A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0.4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868680" y="4461309"/>
            <a:ext cx="6400800" cy="0"/>
          </a:xfrm>
          <a:prstGeom prst="line">
            <a:avLst/>
          </a:prstGeom>
          <a:noFill/>
          <a:ln w="8890">
            <a:solidFill>
              <a:srgbClr val="E5EAE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7200" y="3317347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E6A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0.5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868680" y="3390499"/>
            <a:ext cx="6400800" cy="0"/>
          </a:xfrm>
          <a:prstGeom prst="line">
            <a:avLst/>
          </a:prstGeom>
          <a:noFill/>
          <a:ln w="8890">
            <a:solidFill>
              <a:srgbClr val="E5EAE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7200" y="2246536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E6A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0.6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868680" y="2319688"/>
            <a:ext cx="6400800" cy="0"/>
          </a:xfrm>
          <a:prstGeom prst="line">
            <a:avLst/>
          </a:prstGeom>
          <a:noFill/>
          <a:ln w="8890">
            <a:solidFill>
              <a:srgbClr val="E5EAE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662869" y="5055766"/>
            <a:ext cx="164592" cy="164592"/>
          </a:xfrm>
          <a:prstGeom prst="ellipse">
            <a:avLst/>
          </a:prstGeom>
          <a:solidFill>
            <a:srgbClr val="5E6A7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36605" y="506491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5E6A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ResNet-18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1386459" y="3588755"/>
            <a:ext cx="164592" cy="164592"/>
          </a:xfrm>
          <a:prstGeom prst="ellipse">
            <a:avLst/>
          </a:prstGeom>
          <a:solidFill>
            <a:srgbClr val="5E6A7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560195" y="3597899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5E6A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MobileNetV2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2102549" y="3366027"/>
            <a:ext cx="164592" cy="164592"/>
          </a:xfrm>
          <a:prstGeom prst="ellipse">
            <a:avLst/>
          </a:prstGeom>
          <a:solidFill>
            <a:srgbClr val="5E6A7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276285" y="3375171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5E6A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EffNet-B0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2226564" y="2215976"/>
            <a:ext cx="164592" cy="164592"/>
          </a:xfrm>
          <a:prstGeom prst="ellipse">
            <a:avLst/>
          </a:prstGeom>
          <a:solidFill>
            <a:srgbClr val="B7D0D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400300" y="222512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B7D0D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MobileViT-S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4894898" y="2752452"/>
            <a:ext cx="164592" cy="164592"/>
          </a:xfrm>
          <a:prstGeom prst="ellipse">
            <a:avLst/>
          </a:prstGeom>
          <a:solidFill>
            <a:srgbClr val="5E6A7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068634" y="276159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5E6A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EffFormer-L1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1578483" y="2150657"/>
            <a:ext cx="164592" cy="164592"/>
          </a:xfrm>
          <a:prstGeom prst="ellipse">
            <a:avLst/>
          </a:prstGeom>
          <a:solidFill>
            <a:srgbClr val="0D2A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752219" y="2159801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0D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Hybrid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6567107" y="1768377"/>
            <a:ext cx="164592" cy="164592"/>
          </a:xfrm>
          <a:prstGeom prst="ellipse">
            <a:avLst/>
          </a:prstGeom>
          <a:solidFill>
            <a:srgbClr val="D99B5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740842" y="1777521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D99B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DEKAN</a:t>
            </a:r>
            <a:endParaRPr lang="en-US" sz="750" dirty="0"/>
          </a:p>
        </p:txBody>
      </p:sp>
      <p:sp>
        <p:nvSpPr>
          <p:cNvPr id="63" name="Text 61"/>
          <p:cNvSpPr/>
          <p:nvPr/>
        </p:nvSpPr>
        <p:spPr>
          <a:xfrm>
            <a:off x="3474720" y="577900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E6A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Parameters (M)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 rot="16200000">
            <a:off x="164592" y="315468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E6A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BMA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7818120" y="1645920"/>
            <a:ext cx="3611880" cy="2011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47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Hybrid is the most parameter-efficient model in the sub-6M budget: BMA per M-param = 0.153.</a:t>
            </a:r>
            <a:endParaRPr lang="en-US" sz="1470" dirty="0"/>
          </a:p>
          <a:p>
            <a:pPr marL="127000" indent="-127000">
              <a:buSzPct val="100000"/>
              <a:buChar char="•"/>
            </a:pPr>
            <a:r>
              <a:rPr lang="en-US" sz="147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DEKAN achieves the highest absolute BMA but is intentionally less efficient.</a:t>
            </a:r>
            <a:endParaRPr lang="en-US" sz="1470" dirty="0"/>
          </a:p>
          <a:p>
            <a:pPr marL="127000" indent="-127000">
              <a:buSzPct val="100000"/>
              <a:buChar char="•"/>
            </a:pPr>
            <a:r>
              <a:rPr lang="en-US" sz="147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gives two deployment options: compact clinic-friendly model vs accuracy-focused model.</a:t>
            </a:r>
            <a:endParaRPr lang="en-US" sz="1470" dirty="0"/>
          </a:p>
        </p:txBody>
      </p:sp>
      <p:sp>
        <p:nvSpPr>
          <p:cNvPr id="66" name="Shape 64"/>
          <p:cNvSpPr/>
          <p:nvPr/>
        </p:nvSpPr>
        <p:spPr>
          <a:xfrm>
            <a:off x="8138160" y="4224528"/>
            <a:ext cx="1554480" cy="777240"/>
          </a:xfrm>
          <a:prstGeom prst="roundRect">
            <a:avLst>
              <a:gd name="adj" fmla="val 9412"/>
            </a:avLst>
          </a:prstGeom>
          <a:solidFill>
            <a:srgbClr val="F4F8FA"/>
          </a:solidFill>
          <a:ln w="12700">
            <a:solidFill>
              <a:srgbClr val="B7D0DC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8211312" y="4334256"/>
            <a:ext cx="1408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2A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0.153</a:t>
            </a:r>
            <a:endParaRPr lang="en-US" sz="2000" dirty="0"/>
          </a:p>
        </p:txBody>
      </p:sp>
      <p:sp>
        <p:nvSpPr>
          <p:cNvPr id="68" name="Text 66"/>
          <p:cNvSpPr/>
          <p:nvPr/>
        </p:nvSpPr>
        <p:spPr>
          <a:xfrm>
            <a:off x="8211312" y="4791456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E6A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Hybrid BMA / M-param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9829800" y="4224528"/>
            <a:ext cx="1554480" cy="777240"/>
          </a:xfrm>
          <a:prstGeom prst="roundRect">
            <a:avLst>
              <a:gd name="adj" fmla="val 9412"/>
            </a:avLst>
          </a:prstGeom>
          <a:solidFill>
            <a:srgbClr val="F4F8FA"/>
          </a:solidFill>
          <a:ln w="12700">
            <a:solidFill>
              <a:srgbClr val="B7D0DC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9902952" y="4334256"/>
            <a:ext cx="1408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99B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0.039</a:t>
            </a:r>
            <a:endParaRPr lang="en-US" sz="2000" dirty="0"/>
          </a:p>
        </p:txBody>
      </p:sp>
      <p:sp>
        <p:nvSpPr>
          <p:cNvPr id="71" name="Text 69"/>
          <p:cNvSpPr/>
          <p:nvPr/>
        </p:nvSpPr>
        <p:spPr>
          <a:xfrm>
            <a:off x="9902952" y="4791456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E6A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DEKAN BMA / M-param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43800" y="45720"/>
            <a:ext cx="1097280" cy="36576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8641080" y="411480"/>
            <a:ext cx="1143000" cy="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9784080" y="91440"/>
            <a:ext cx="1051560" cy="54864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835640" y="640080"/>
            <a:ext cx="1005840" cy="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8641080" y="411480"/>
            <a:ext cx="0" cy="82296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8183880" y="1234440"/>
            <a:ext cx="1097280" cy="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9281160" y="1005840"/>
            <a:ext cx="1005840" cy="50292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10287000" y="1508760"/>
            <a:ext cx="1188720" cy="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8183880" y="1234440"/>
            <a:ext cx="594360" cy="91440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8778240" y="2148840"/>
            <a:ext cx="1051560" cy="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9829800" y="1874520"/>
            <a:ext cx="1234440" cy="45720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9281160" y="1005840"/>
            <a:ext cx="548640" cy="86868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10835640" y="640080"/>
            <a:ext cx="640080" cy="50292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11475720" y="1143000"/>
            <a:ext cx="0" cy="118872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9784080" y="91440"/>
            <a:ext cx="0" cy="91440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7507224" y="9144"/>
            <a:ext cx="73152" cy="73152"/>
          </a:xfrm>
          <a:prstGeom prst="ellipse">
            <a:avLst/>
          </a:prstGeom>
          <a:solidFill>
            <a:srgbClr val="D7DDE2">
              <a:alpha val="80000"/>
            </a:srgbClr>
          </a:solidFill>
          <a:ln w="12700">
            <a:solidFill>
              <a:srgbClr val="D7DDE2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8604504" y="374904"/>
            <a:ext cx="73152" cy="73152"/>
          </a:xfrm>
          <a:prstGeom prst="ellipse">
            <a:avLst/>
          </a:prstGeom>
          <a:solidFill>
            <a:srgbClr val="D7DDE2">
              <a:alpha val="80000"/>
            </a:srgbClr>
          </a:solidFill>
          <a:ln w="12700">
            <a:solidFill>
              <a:srgbClr val="D7DDE2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9747504" y="54864"/>
            <a:ext cx="73152" cy="73152"/>
          </a:xfrm>
          <a:prstGeom prst="ellipse">
            <a:avLst/>
          </a:prstGeom>
          <a:solidFill>
            <a:srgbClr val="D7DDE2">
              <a:alpha val="80000"/>
            </a:srgbClr>
          </a:solidFill>
          <a:ln w="12700">
            <a:solidFill>
              <a:srgbClr val="D7DDE2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10799064" y="603504"/>
            <a:ext cx="73152" cy="73152"/>
          </a:xfrm>
          <a:prstGeom prst="ellipse">
            <a:avLst/>
          </a:prstGeom>
          <a:solidFill>
            <a:srgbClr val="D7DDE2">
              <a:alpha val="80000"/>
            </a:srgbClr>
          </a:solidFill>
          <a:ln w="12700">
            <a:solidFill>
              <a:srgbClr val="D7DDE2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11804904" y="146304"/>
            <a:ext cx="73152" cy="73152"/>
          </a:xfrm>
          <a:prstGeom prst="ellipse">
            <a:avLst/>
          </a:prstGeom>
          <a:solidFill>
            <a:srgbClr val="D7DDE2">
              <a:alpha val="80000"/>
            </a:srgbClr>
          </a:solidFill>
          <a:ln w="12700">
            <a:solidFill>
              <a:srgbClr val="D7DDE2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8147304" y="1197864"/>
            <a:ext cx="73152" cy="73152"/>
          </a:xfrm>
          <a:prstGeom prst="ellipse">
            <a:avLst/>
          </a:prstGeom>
          <a:solidFill>
            <a:srgbClr val="D7DDE2">
              <a:alpha val="80000"/>
            </a:srgbClr>
          </a:solidFill>
          <a:ln w="12700">
            <a:solidFill>
              <a:srgbClr val="D7DDE2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9244584" y="969264"/>
            <a:ext cx="73152" cy="73152"/>
          </a:xfrm>
          <a:prstGeom prst="ellipse">
            <a:avLst/>
          </a:prstGeom>
          <a:solidFill>
            <a:srgbClr val="D7DDE2">
              <a:alpha val="80000"/>
            </a:srgbClr>
          </a:solidFill>
          <a:ln w="12700">
            <a:solidFill>
              <a:srgbClr val="D7DDE2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10250424" y="1472184"/>
            <a:ext cx="73152" cy="73152"/>
          </a:xfrm>
          <a:prstGeom prst="ellipse">
            <a:avLst/>
          </a:prstGeom>
          <a:solidFill>
            <a:srgbClr val="D7DDE2">
              <a:alpha val="80000"/>
            </a:srgbClr>
          </a:solidFill>
          <a:ln w="12700">
            <a:solidFill>
              <a:srgbClr val="D7DDE2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11439144" y="1106424"/>
            <a:ext cx="73152" cy="73152"/>
          </a:xfrm>
          <a:prstGeom prst="ellipse">
            <a:avLst/>
          </a:prstGeom>
          <a:solidFill>
            <a:srgbClr val="D7DDE2">
              <a:alpha val="80000"/>
            </a:srgbClr>
          </a:solidFill>
          <a:ln w="12700">
            <a:solidFill>
              <a:srgbClr val="D7DDE2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8741664" y="2112264"/>
            <a:ext cx="73152" cy="73152"/>
          </a:xfrm>
          <a:prstGeom prst="ellipse">
            <a:avLst/>
          </a:prstGeom>
          <a:solidFill>
            <a:srgbClr val="D7DDE2">
              <a:alpha val="80000"/>
            </a:srgbClr>
          </a:solidFill>
          <a:ln w="12700">
            <a:solidFill>
              <a:srgbClr val="D7DDE2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9793224" y="1837944"/>
            <a:ext cx="73152" cy="73152"/>
          </a:xfrm>
          <a:prstGeom prst="ellipse">
            <a:avLst/>
          </a:prstGeom>
          <a:solidFill>
            <a:srgbClr val="D7DDE2">
              <a:alpha val="80000"/>
            </a:srgbClr>
          </a:solidFill>
          <a:ln w="12700">
            <a:solidFill>
              <a:srgbClr val="D7DDE2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11027664" y="2295144"/>
            <a:ext cx="73152" cy="73152"/>
          </a:xfrm>
          <a:prstGeom prst="ellipse">
            <a:avLst/>
          </a:prstGeom>
          <a:solidFill>
            <a:srgbClr val="D7DDE2">
              <a:alpha val="80000"/>
            </a:srgbClr>
          </a:solidFill>
          <a:ln w="12700">
            <a:solidFill>
              <a:srgbClr val="D7DDE2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594360" y="384048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TTA and Ablation Insights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621792" y="89611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E6A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helped, what was inconclusive, and what did not improve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94360" y="1133856"/>
            <a:ext cx="10835640" cy="0"/>
          </a:xfrm>
          <a:prstGeom prst="line">
            <a:avLst/>
          </a:prstGeom>
          <a:noFill/>
          <a:ln w="15240">
            <a:solidFill>
              <a:srgbClr val="1E1E1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Shape 3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Shape 31"/>
          <p:cNvSpPr/>
          <p:nvPr/>
        </p:nvSpPr>
        <p:spPr>
          <a:xfrm>
            <a:off x="0" y="6364224"/>
            <a:ext cx="5074920" cy="384048"/>
          </a:xfrm>
          <a:prstGeom prst="parallelogram">
            <a:avLst/>
          </a:prstGeom>
          <a:solidFill>
            <a:srgbClr val="B7D0DC"/>
          </a:solidFill>
          <a:ln w="12700">
            <a:solidFill>
              <a:srgbClr val="B7D0DC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11722608" y="651967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11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417320"/>
          <a:ext cx="4480560" cy="2240280"/>
        </p:xfrm>
        <a:graphic>
          <a:graphicData uri="http://schemas.openxmlformats.org/drawingml/2006/table">
            <a:tbl>
              <a:tblPr/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80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Model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 TTA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TTA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Change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Hybrid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0.5815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0.6081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+0.027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DEKAN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0.6368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0.6438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+0.007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MobileViT-S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0.5925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0.6020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+0.010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EffFormer-L1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0.5559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0.5519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-0.004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8F9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6" name="Text 33"/>
          <p:cNvSpPr/>
          <p:nvPr/>
        </p:nvSpPr>
        <p:spPr>
          <a:xfrm>
            <a:off x="5989320" y="141732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Ablation summary</a:t>
            </a:r>
            <a:endParaRPr lang="en-US" sz="1400" dirty="0"/>
          </a:p>
        </p:txBody>
      </p:sp>
      <p:sp>
        <p:nvSpPr>
          <p:cNvPr id="37" name="Text 34"/>
          <p:cNvSpPr/>
          <p:nvPr/>
        </p:nvSpPr>
        <p:spPr>
          <a:xfrm>
            <a:off x="5989320" y="1783080"/>
            <a:ext cx="5074920" cy="2423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43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Lightweight: CNN stem alone to full hybrid improves BMA from 0.4853 to 0.6081 (+0.123).</a:t>
            </a:r>
            <a:endParaRPr lang="en-US" sz="1430" dirty="0"/>
          </a:p>
          <a:p>
            <a:pPr marL="127000" indent="-127000">
              <a:buSzPct val="100000"/>
              <a:buChar char="•"/>
            </a:pPr>
            <a:r>
              <a:rPr lang="en-US" sz="143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Lightweight metadata effect is inconclusive on the single test run (full vs no-meta differs by 0.0004).</a:t>
            </a:r>
            <a:endParaRPr lang="en-US" sz="1430" dirty="0"/>
          </a:p>
          <a:p>
            <a:pPr marL="127000" indent="-127000">
              <a:buSzPct val="100000"/>
              <a:buChar char="•"/>
            </a:pPr>
            <a:r>
              <a:rPr lang="en-US" sz="143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DEKAN: metadata helps clearly — comparing the two linear-head variants (no-meta 0.6302 vs with-meta 0.6510) gives +0.021 BMA.</a:t>
            </a:r>
            <a:endParaRPr lang="en-US" sz="1430" dirty="0"/>
          </a:p>
          <a:p>
            <a:pPr marL="127000" indent="-127000">
              <a:buSzPct val="100000"/>
              <a:buChar char="•"/>
            </a:pPr>
            <a:r>
              <a:rPr lang="en-US" sz="143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KAN head is a negative result: linear head performs slightly better (0.6510 vs 0.6438).</a:t>
            </a:r>
            <a:endParaRPr lang="en-US" sz="1430" dirty="0"/>
          </a:p>
        </p:txBody>
      </p:sp>
      <p:sp>
        <p:nvSpPr>
          <p:cNvPr id="38" name="Shape 35"/>
          <p:cNvSpPr/>
          <p:nvPr/>
        </p:nvSpPr>
        <p:spPr>
          <a:xfrm>
            <a:off x="960120" y="4160520"/>
            <a:ext cx="1645920" cy="822960"/>
          </a:xfrm>
          <a:prstGeom prst="roundRect">
            <a:avLst>
              <a:gd name="adj" fmla="val 8889"/>
            </a:avLst>
          </a:prstGeom>
          <a:solidFill>
            <a:srgbClr val="F4F8FA"/>
          </a:solidFill>
          <a:ln w="12700">
            <a:solidFill>
              <a:srgbClr val="B7D0D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36"/>
          <p:cNvSpPr/>
          <p:nvPr/>
        </p:nvSpPr>
        <p:spPr>
          <a:xfrm>
            <a:off x="1033272" y="4270248"/>
            <a:ext cx="1499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2A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+0.123</a:t>
            </a:r>
            <a:endParaRPr lang="en-US" sz="2000" dirty="0"/>
          </a:p>
        </p:txBody>
      </p:sp>
      <p:sp>
        <p:nvSpPr>
          <p:cNvPr id="40" name="Text 37"/>
          <p:cNvSpPr/>
          <p:nvPr/>
        </p:nvSpPr>
        <p:spPr>
          <a:xfrm>
            <a:off x="1033272" y="4727448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E6A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Hybrid components gain</a:t>
            </a:r>
            <a:endParaRPr lang="en-US" sz="950" dirty="0"/>
          </a:p>
        </p:txBody>
      </p:sp>
      <p:sp>
        <p:nvSpPr>
          <p:cNvPr id="41" name="Shape 38"/>
          <p:cNvSpPr/>
          <p:nvPr/>
        </p:nvSpPr>
        <p:spPr>
          <a:xfrm>
            <a:off x="2880360" y="4160520"/>
            <a:ext cx="1645920" cy="822960"/>
          </a:xfrm>
          <a:prstGeom prst="roundRect">
            <a:avLst>
              <a:gd name="adj" fmla="val 8889"/>
            </a:avLst>
          </a:prstGeom>
          <a:solidFill>
            <a:srgbClr val="F4F8FA"/>
          </a:solidFill>
          <a:ln w="12700">
            <a:solidFill>
              <a:srgbClr val="B7D0D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Text 39"/>
          <p:cNvSpPr/>
          <p:nvPr/>
        </p:nvSpPr>
        <p:spPr>
          <a:xfrm>
            <a:off x="2953512" y="4270248"/>
            <a:ext cx="1499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BA4A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+0.021</a:t>
            </a:r>
            <a:endParaRPr lang="en-US" sz="2000" dirty="0"/>
          </a:p>
        </p:txBody>
      </p:sp>
      <p:sp>
        <p:nvSpPr>
          <p:cNvPr id="43" name="Text 40"/>
          <p:cNvSpPr/>
          <p:nvPr/>
        </p:nvSpPr>
        <p:spPr>
          <a:xfrm>
            <a:off x="2953512" y="4727448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E6A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DEKAN metadata gain</a:t>
            </a:r>
            <a:endParaRPr lang="en-US" sz="950" dirty="0"/>
          </a:p>
        </p:txBody>
      </p:sp>
      <p:sp>
        <p:nvSpPr>
          <p:cNvPr id="44" name="Shape 41"/>
          <p:cNvSpPr/>
          <p:nvPr/>
        </p:nvSpPr>
        <p:spPr>
          <a:xfrm>
            <a:off x="6217920" y="4434840"/>
            <a:ext cx="1645920" cy="822960"/>
          </a:xfrm>
          <a:prstGeom prst="roundRect">
            <a:avLst>
              <a:gd name="adj" fmla="val 8889"/>
            </a:avLst>
          </a:prstGeom>
          <a:solidFill>
            <a:srgbClr val="F4F8FA"/>
          </a:solidFill>
          <a:ln w="12700">
            <a:solidFill>
              <a:srgbClr val="B7D0D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ext 42"/>
          <p:cNvSpPr/>
          <p:nvPr/>
        </p:nvSpPr>
        <p:spPr>
          <a:xfrm>
            <a:off x="6291072" y="4544568"/>
            <a:ext cx="1499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367C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0.6510</a:t>
            </a:r>
            <a:endParaRPr lang="en-US" sz="2000" dirty="0"/>
          </a:p>
        </p:txBody>
      </p:sp>
      <p:sp>
        <p:nvSpPr>
          <p:cNvPr id="46" name="Text 43"/>
          <p:cNvSpPr/>
          <p:nvPr/>
        </p:nvSpPr>
        <p:spPr>
          <a:xfrm>
            <a:off x="6291072" y="5001768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E6A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DEKAN linear head</a:t>
            </a:r>
            <a:endParaRPr lang="en-US" sz="950" dirty="0"/>
          </a:p>
        </p:txBody>
      </p:sp>
      <p:sp>
        <p:nvSpPr>
          <p:cNvPr id="47" name="Shape 44"/>
          <p:cNvSpPr/>
          <p:nvPr/>
        </p:nvSpPr>
        <p:spPr>
          <a:xfrm>
            <a:off x="8138160" y="4434840"/>
            <a:ext cx="1645920" cy="822960"/>
          </a:xfrm>
          <a:prstGeom prst="roundRect">
            <a:avLst>
              <a:gd name="adj" fmla="val 8889"/>
            </a:avLst>
          </a:prstGeom>
          <a:solidFill>
            <a:srgbClr val="F4F8FA"/>
          </a:solidFill>
          <a:ln w="12700">
            <a:solidFill>
              <a:srgbClr val="B7D0D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" name="Text 45"/>
          <p:cNvSpPr/>
          <p:nvPr/>
        </p:nvSpPr>
        <p:spPr>
          <a:xfrm>
            <a:off x="8211312" y="4544568"/>
            <a:ext cx="1499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99B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0.6438</a:t>
            </a:r>
            <a:endParaRPr lang="en-US" sz="2000" dirty="0"/>
          </a:p>
        </p:txBody>
      </p:sp>
      <p:sp>
        <p:nvSpPr>
          <p:cNvPr id="49" name="Text 46"/>
          <p:cNvSpPr/>
          <p:nvPr/>
        </p:nvSpPr>
        <p:spPr>
          <a:xfrm>
            <a:off x="8211312" y="5001768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E6A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DEKAN KAN head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43800" y="45720"/>
            <a:ext cx="1097280" cy="36576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8641080" y="411480"/>
            <a:ext cx="1143000" cy="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9784080" y="91440"/>
            <a:ext cx="1051560" cy="54864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835640" y="640080"/>
            <a:ext cx="1005840" cy="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8641080" y="411480"/>
            <a:ext cx="0" cy="82296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8183880" y="1234440"/>
            <a:ext cx="1097280" cy="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9281160" y="1005840"/>
            <a:ext cx="1005840" cy="50292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10287000" y="1508760"/>
            <a:ext cx="1188720" cy="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8183880" y="1234440"/>
            <a:ext cx="594360" cy="91440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8778240" y="2148840"/>
            <a:ext cx="1051560" cy="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9829800" y="1874520"/>
            <a:ext cx="1234440" cy="45720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9281160" y="1005840"/>
            <a:ext cx="548640" cy="86868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10835640" y="640080"/>
            <a:ext cx="640080" cy="50292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11475720" y="1143000"/>
            <a:ext cx="0" cy="118872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9784080" y="91440"/>
            <a:ext cx="0" cy="91440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7507224" y="9144"/>
            <a:ext cx="73152" cy="73152"/>
          </a:xfrm>
          <a:prstGeom prst="ellipse">
            <a:avLst/>
          </a:prstGeom>
          <a:solidFill>
            <a:srgbClr val="D7DDE2">
              <a:alpha val="80000"/>
            </a:srgbClr>
          </a:solidFill>
          <a:ln w="12700">
            <a:solidFill>
              <a:srgbClr val="D7DDE2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8604504" y="374904"/>
            <a:ext cx="73152" cy="73152"/>
          </a:xfrm>
          <a:prstGeom prst="ellipse">
            <a:avLst/>
          </a:prstGeom>
          <a:solidFill>
            <a:srgbClr val="D7DDE2">
              <a:alpha val="80000"/>
            </a:srgbClr>
          </a:solidFill>
          <a:ln w="12700">
            <a:solidFill>
              <a:srgbClr val="D7DDE2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9747504" y="54864"/>
            <a:ext cx="73152" cy="73152"/>
          </a:xfrm>
          <a:prstGeom prst="ellipse">
            <a:avLst/>
          </a:prstGeom>
          <a:solidFill>
            <a:srgbClr val="D7DDE2">
              <a:alpha val="80000"/>
            </a:srgbClr>
          </a:solidFill>
          <a:ln w="12700">
            <a:solidFill>
              <a:srgbClr val="D7DDE2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10799064" y="603504"/>
            <a:ext cx="73152" cy="73152"/>
          </a:xfrm>
          <a:prstGeom prst="ellipse">
            <a:avLst/>
          </a:prstGeom>
          <a:solidFill>
            <a:srgbClr val="D7DDE2">
              <a:alpha val="80000"/>
            </a:srgbClr>
          </a:solidFill>
          <a:ln w="12700">
            <a:solidFill>
              <a:srgbClr val="D7DDE2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11804904" y="146304"/>
            <a:ext cx="73152" cy="73152"/>
          </a:xfrm>
          <a:prstGeom prst="ellipse">
            <a:avLst/>
          </a:prstGeom>
          <a:solidFill>
            <a:srgbClr val="D7DDE2">
              <a:alpha val="80000"/>
            </a:srgbClr>
          </a:solidFill>
          <a:ln w="12700">
            <a:solidFill>
              <a:srgbClr val="D7DDE2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8147304" y="1197864"/>
            <a:ext cx="73152" cy="73152"/>
          </a:xfrm>
          <a:prstGeom prst="ellipse">
            <a:avLst/>
          </a:prstGeom>
          <a:solidFill>
            <a:srgbClr val="D7DDE2">
              <a:alpha val="80000"/>
            </a:srgbClr>
          </a:solidFill>
          <a:ln w="12700">
            <a:solidFill>
              <a:srgbClr val="D7DDE2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9244584" y="969264"/>
            <a:ext cx="73152" cy="73152"/>
          </a:xfrm>
          <a:prstGeom prst="ellipse">
            <a:avLst/>
          </a:prstGeom>
          <a:solidFill>
            <a:srgbClr val="D7DDE2">
              <a:alpha val="80000"/>
            </a:srgbClr>
          </a:solidFill>
          <a:ln w="12700">
            <a:solidFill>
              <a:srgbClr val="D7DDE2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10250424" y="1472184"/>
            <a:ext cx="73152" cy="73152"/>
          </a:xfrm>
          <a:prstGeom prst="ellipse">
            <a:avLst/>
          </a:prstGeom>
          <a:solidFill>
            <a:srgbClr val="D7DDE2">
              <a:alpha val="80000"/>
            </a:srgbClr>
          </a:solidFill>
          <a:ln w="12700">
            <a:solidFill>
              <a:srgbClr val="D7DDE2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11439144" y="1106424"/>
            <a:ext cx="73152" cy="73152"/>
          </a:xfrm>
          <a:prstGeom prst="ellipse">
            <a:avLst/>
          </a:prstGeom>
          <a:solidFill>
            <a:srgbClr val="D7DDE2">
              <a:alpha val="80000"/>
            </a:srgbClr>
          </a:solidFill>
          <a:ln w="12700">
            <a:solidFill>
              <a:srgbClr val="D7DDE2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8741664" y="2112264"/>
            <a:ext cx="73152" cy="73152"/>
          </a:xfrm>
          <a:prstGeom prst="ellipse">
            <a:avLst/>
          </a:prstGeom>
          <a:solidFill>
            <a:srgbClr val="D7DDE2">
              <a:alpha val="80000"/>
            </a:srgbClr>
          </a:solidFill>
          <a:ln w="12700">
            <a:solidFill>
              <a:srgbClr val="D7DDE2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9793224" y="1837944"/>
            <a:ext cx="73152" cy="73152"/>
          </a:xfrm>
          <a:prstGeom prst="ellipse">
            <a:avLst/>
          </a:prstGeom>
          <a:solidFill>
            <a:srgbClr val="D7DDE2">
              <a:alpha val="80000"/>
            </a:srgbClr>
          </a:solidFill>
          <a:ln w="12700">
            <a:solidFill>
              <a:srgbClr val="D7DDE2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11027664" y="2295144"/>
            <a:ext cx="73152" cy="73152"/>
          </a:xfrm>
          <a:prstGeom prst="ellipse">
            <a:avLst/>
          </a:prstGeom>
          <a:solidFill>
            <a:srgbClr val="D7DDE2">
              <a:alpha val="80000"/>
            </a:srgbClr>
          </a:solidFill>
          <a:ln w="12700">
            <a:solidFill>
              <a:srgbClr val="D7DDE2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594360" y="384048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Limitations, Constraints and Ethics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621792" y="89611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E6A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should be considered before deployment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94360" y="1133856"/>
            <a:ext cx="10835640" cy="0"/>
          </a:xfrm>
          <a:prstGeom prst="line">
            <a:avLst/>
          </a:prstGeom>
          <a:noFill/>
          <a:ln w="15240">
            <a:solidFill>
              <a:srgbClr val="1E1E1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Shape 3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Shape 31"/>
          <p:cNvSpPr/>
          <p:nvPr/>
        </p:nvSpPr>
        <p:spPr>
          <a:xfrm>
            <a:off x="0" y="6364224"/>
            <a:ext cx="5074920" cy="384048"/>
          </a:xfrm>
          <a:prstGeom prst="parallelogram">
            <a:avLst/>
          </a:prstGeom>
          <a:solidFill>
            <a:srgbClr val="B7D0DC"/>
          </a:solidFill>
          <a:ln w="12700">
            <a:solidFill>
              <a:srgbClr val="B7D0DC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11722608" y="651967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22960" y="1417320"/>
            <a:ext cx="5349240" cy="3154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62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Single-run results with seed 42; multi-seed reporting is needed for publication-grade comparison.</a:t>
            </a:r>
            <a:endParaRPr lang="en-US" sz="1620" dirty="0"/>
          </a:p>
          <a:p>
            <a:pPr marL="127000" indent="-127000">
              <a:buSzPct val="100000"/>
              <a:buChar char="•"/>
            </a:pPr>
            <a:r>
              <a:rPr lang="en-US" sz="162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external test set was used, so generalisation beyond ISIC-2019 remains unverified.</a:t>
            </a:r>
            <a:endParaRPr lang="en-US" sz="1620" dirty="0"/>
          </a:p>
          <a:p>
            <a:pPr marL="127000" indent="-127000">
              <a:buSzPct val="100000"/>
              <a:buChar char="•"/>
            </a:pPr>
            <a:r>
              <a:rPr lang="en-US" sz="162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Single-backbone DEKAN ablations (DenseNet-121 alone and EfficientNet-B0 alone) were not completed, so each backbone's individual contribution is unquantified.</a:t>
            </a:r>
            <a:endParaRPr lang="en-US" sz="1620" dirty="0"/>
          </a:p>
          <a:p>
            <a:pPr marL="127000" indent="-127000">
              <a:buSzPct val="100000"/>
              <a:buChar char="•"/>
            </a:pPr>
            <a:r>
              <a:rPr lang="en-US" sz="162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Qualitative interpretability was not yet included.</a:t>
            </a:r>
            <a:endParaRPr lang="en-US" sz="1620" dirty="0"/>
          </a:p>
        </p:txBody>
      </p:sp>
      <p:sp>
        <p:nvSpPr>
          <p:cNvPr id="36" name="Shape 34"/>
          <p:cNvSpPr/>
          <p:nvPr/>
        </p:nvSpPr>
        <p:spPr>
          <a:xfrm>
            <a:off x="6355080" y="1325880"/>
            <a:ext cx="0" cy="4069080"/>
          </a:xfrm>
          <a:prstGeom prst="line">
            <a:avLst/>
          </a:prstGeom>
          <a:noFill/>
          <a:ln w="15240">
            <a:solidFill>
              <a:srgbClr val="D7DD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Text 35"/>
          <p:cNvSpPr/>
          <p:nvPr/>
        </p:nvSpPr>
        <p:spPr>
          <a:xfrm>
            <a:off x="6812280" y="1417320"/>
            <a:ext cx="4617720" cy="3154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62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Uses publicly available, de-identified ISIC-2019 data only.</a:t>
            </a:r>
            <a:endParaRPr lang="en-US" sz="1620" dirty="0"/>
          </a:p>
          <a:p>
            <a:pPr marL="127000" indent="-127000">
              <a:buSzPct val="100000"/>
              <a:buChar char="•"/>
            </a:pPr>
            <a:r>
              <a:rPr lang="en-US" sz="162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new human-subject data were collected.</a:t>
            </a:r>
            <a:endParaRPr lang="en-US" sz="1620" dirty="0"/>
          </a:p>
          <a:p>
            <a:pPr marL="127000" indent="-127000">
              <a:buSzPct val="100000"/>
              <a:buChar char="•"/>
            </a:pPr>
            <a:r>
              <a:rPr lang="en-US" sz="162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Age, sex and lesion site are used only as model input, not for re-identification.</a:t>
            </a:r>
            <a:endParaRPr lang="en-US" sz="1620" dirty="0"/>
          </a:p>
          <a:p>
            <a:pPr marL="127000" indent="-127000">
              <a:buSzPct val="100000"/>
              <a:buChar char="•"/>
            </a:pPr>
            <a:r>
              <a:rPr lang="en-US" sz="162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system is intended as decision support, not a substitute for a dermatologist.</a:t>
            </a:r>
            <a:endParaRPr lang="en-US" sz="1620" dirty="0"/>
          </a:p>
        </p:txBody>
      </p:sp>
      <p:sp>
        <p:nvSpPr>
          <p:cNvPr id="38" name="Shape 36"/>
          <p:cNvSpPr/>
          <p:nvPr/>
        </p:nvSpPr>
        <p:spPr>
          <a:xfrm>
            <a:off x="1051560" y="5133288"/>
            <a:ext cx="1691640" cy="749808"/>
          </a:xfrm>
          <a:prstGeom prst="roundRect">
            <a:avLst>
              <a:gd name="adj" fmla="val 9756"/>
            </a:avLst>
          </a:prstGeom>
          <a:solidFill>
            <a:srgbClr val="F4F8FA"/>
          </a:solidFill>
          <a:ln w="12700">
            <a:solidFill>
              <a:srgbClr val="B7D0D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37"/>
          <p:cNvSpPr/>
          <p:nvPr/>
        </p:nvSpPr>
        <p:spPr>
          <a:xfrm>
            <a:off x="1124712" y="518464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99B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16GB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1124712" y="5641848"/>
            <a:ext cx="1545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E6A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single-GPU training limit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7086600" y="5152744"/>
            <a:ext cx="1691640" cy="749808"/>
          </a:xfrm>
          <a:prstGeom prst="roundRect">
            <a:avLst>
              <a:gd name="adj" fmla="val 9756"/>
            </a:avLst>
          </a:prstGeom>
          <a:solidFill>
            <a:srgbClr val="F4F8FA"/>
          </a:solidFill>
          <a:ln w="12700">
            <a:solidFill>
              <a:srgbClr val="B7D0D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Text 40"/>
          <p:cNvSpPr/>
          <p:nvPr/>
        </p:nvSpPr>
        <p:spPr>
          <a:xfrm>
            <a:off x="7159752" y="518464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367C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BMA</a:t>
            </a:r>
            <a:endParaRPr lang="en-US" sz="2000" dirty="0"/>
          </a:p>
        </p:txBody>
      </p:sp>
      <p:sp>
        <p:nvSpPr>
          <p:cNvPr id="43" name="Text 41"/>
          <p:cNvSpPr/>
          <p:nvPr/>
        </p:nvSpPr>
        <p:spPr>
          <a:xfrm>
            <a:off x="7159752" y="5641848"/>
            <a:ext cx="1545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E6A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fair rare-class focus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9052560" y="5143016"/>
            <a:ext cx="1691640" cy="749808"/>
          </a:xfrm>
          <a:prstGeom prst="roundRect">
            <a:avLst>
              <a:gd name="adj" fmla="val 9756"/>
            </a:avLst>
          </a:prstGeom>
          <a:solidFill>
            <a:srgbClr val="F4F8FA"/>
          </a:solidFill>
          <a:ln w="12700">
            <a:solidFill>
              <a:srgbClr val="B7D0D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ext 43"/>
          <p:cNvSpPr/>
          <p:nvPr/>
        </p:nvSpPr>
        <p:spPr>
          <a:xfrm>
            <a:off x="9125712" y="518464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BA4A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Assist</a:t>
            </a:r>
            <a:endParaRPr lang="en-US" sz="2000" dirty="0"/>
          </a:p>
        </p:txBody>
      </p:sp>
      <p:sp>
        <p:nvSpPr>
          <p:cNvPr id="46" name="Text 44"/>
          <p:cNvSpPr/>
          <p:nvPr/>
        </p:nvSpPr>
        <p:spPr>
          <a:xfrm>
            <a:off x="9125712" y="5641848"/>
            <a:ext cx="1545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E6A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replace clinicians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43800" y="45720"/>
            <a:ext cx="1097280" cy="36576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8641080" y="411480"/>
            <a:ext cx="1143000" cy="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9784080" y="91440"/>
            <a:ext cx="1051560" cy="54864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835640" y="640080"/>
            <a:ext cx="1005840" cy="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8641080" y="411480"/>
            <a:ext cx="0" cy="82296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8183880" y="1234440"/>
            <a:ext cx="1097280" cy="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9281160" y="1005840"/>
            <a:ext cx="1005840" cy="50292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10287000" y="1508760"/>
            <a:ext cx="1188720" cy="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8183880" y="1234440"/>
            <a:ext cx="594360" cy="91440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8778240" y="2148840"/>
            <a:ext cx="1051560" cy="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9829800" y="1874520"/>
            <a:ext cx="1234440" cy="45720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9281160" y="1005840"/>
            <a:ext cx="548640" cy="86868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10835640" y="640080"/>
            <a:ext cx="640080" cy="50292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11475720" y="1143000"/>
            <a:ext cx="0" cy="118872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9784080" y="91440"/>
            <a:ext cx="0" cy="91440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7507224" y="9144"/>
            <a:ext cx="73152" cy="73152"/>
          </a:xfrm>
          <a:prstGeom prst="ellipse">
            <a:avLst/>
          </a:prstGeom>
          <a:solidFill>
            <a:srgbClr val="D7DDE2">
              <a:alpha val="80000"/>
            </a:srgbClr>
          </a:solidFill>
          <a:ln w="12700">
            <a:solidFill>
              <a:srgbClr val="D7DDE2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8604504" y="374904"/>
            <a:ext cx="73152" cy="73152"/>
          </a:xfrm>
          <a:prstGeom prst="ellipse">
            <a:avLst/>
          </a:prstGeom>
          <a:solidFill>
            <a:srgbClr val="D7DDE2">
              <a:alpha val="80000"/>
            </a:srgbClr>
          </a:solidFill>
          <a:ln w="12700">
            <a:solidFill>
              <a:srgbClr val="D7DDE2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9747504" y="54864"/>
            <a:ext cx="73152" cy="73152"/>
          </a:xfrm>
          <a:prstGeom prst="ellipse">
            <a:avLst/>
          </a:prstGeom>
          <a:solidFill>
            <a:srgbClr val="D7DDE2">
              <a:alpha val="80000"/>
            </a:srgbClr>
          </a:solidFill>
          <a:ln w="12700">
            <a:solidFill>
              <a:srgbClr val="D7DDE2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10799064" y="603504"/>
            <a:ext cx="73152" cy="73152"/>
          </a:xfrm>
          <a:prstGeom prst="ellipse">
            <a:avLst/>
          </a:prstGeom>
          <a:solidFill>
            <a:srgbClr val="D7DDE2">
              <a:alpha val="80000"/>
            </a:srgbClr>
          </a:solidFill>
          <a:ln w="12700">
            <a:solidFill>
              <a:srgbClr val="D7DDE2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11804904" y="146304"/>
            <a:ext cx="73152" cy="73152"/>
          </a:xfrm>
          <a:prstGeom prst="ellipse">
            <a:avLst/>
          </a:prstGeom>
          <a:solidFill>
            <a:srgbClr val="D7DDE2">
              <a:alpha val="80000"/>
            </a:srgbClr>
          </a:solidFill>
          <a:ln w="12700">
            <a:solidFill>
              <a:srgbClr val="D7DDE2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8147304" y="1197864"/>
            <a:ext cx="73152" cy="73152"/>
          </a:xfrm>
          <a:prstGeom prst="ellipse">
            <a:avLst/>
          </a:prstGeom>
          <a:solidFill>
            <a:srgbClr val="D7DDE2">
              <a:alpha val="80000"/>
            </a:srgbClr>
          </a:solidFill>
          <a:ln w="12700">
            <a:solidFill>
              <a:srgbClr val="D7DDE2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9244584" y="969264"/>
            <a:ext cx="73152" cy="73152"/>
          </a:xfrm>
          <a:prstGeom prst="ellipse">
            <a:avLst/>
          </a:prstGeom>
          <a:solidFill>
            <a:srgbClr val="D7DDE2">
              <a:alpha val="80000"/>
            </a:srgbClr>
          </a:solidFill>
          <a:ln w="12700">
            <a:solidFill>
              <a:srgbClr val="D7DDE2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10250424" y="1472184"/>
            <a:ext cx="73152" cy="73152"/>
          </a:xfrm>
          <a:prstGeom prst="ellipse">
            <a:avLst/>
          </a:prstGeom>
          <a:solidFill>
            <a:srgbClr val="D7DDE2">
              <a:alpha val="80000"/>
            </a:srgbClr>
          </a:solidFill>
          <a:ln w="12700">
            <a:solidFill>
              <a:srgbClr val="D7DDE2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11439144" y="1106424"/>
            <a:ext cx="73152" cy="73152"/>
          </a:xfrm>
          <a:prstGeom prst="ellipse">
            <a:avLst/>
          </a:prstGeom>
          <a:solidFill>
            <a:srgbClr val="D7DDE2">
              <a:alpha val="80000"/>
            </a:srgbClr>
          </a:solidFill>
          <a:ln w="12700">
            <a:solidFill>
              <a:srgbClr val="D7DDE2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8741664" y="2112264"/>
            <a:ext cx="73152" cy="73152"/>
          </a:xfrm>
          <a:prstGeom prst="ellipse">
            <a:avLst/>
          </a:prstGeom>
          <a:solidFill>
            <a:srgbClr val="D7DDE2">
              <a:alpha val="80000"/>
            </a:srgbClr>
          </a:solidFill>
          <a:ln w="12700">
            <a:solidFill>
              <a:srgbClr val="D7DDE2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9793224" y="1837944"/>
            <a:ext cx="73152" cy="73152"/>
          </a:xfrm>
          <a:prstGeom prst="ellipse">
            <a:avLst/>
          </a:prstGeom>
          <a:solidFill>
            <a:srgbClr val="D7DDE2">
              <a:alpha val="80000"/>
            </a:srgbClr>
          </a:solidFill>
          <a:ln w="12700">
            <a:solidFill>
              <a:srgbClr val="D7DDE2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11027664" y="2295144"/>
            <a:ext cx="73152" cy="73152"/>
          </a:xfrm>
          <a:prstGeom prst="ellipse">
            <a:avLst/>
          </a:prstGeom>
          <a:solidFill>
            <a:srgbClr val="D7DDE2">
              <a:alpha val="80000"/>
            </a:srgbClr>
          </a:solidFill>
          <a:ln w="12700">
            <a:solidFill>
              <a:srgbClr val="D7DDE2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594360" y="384048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Contributions and Conclusion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621792" y="89611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E6A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Two models, one clinically informed design direction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94360" y="1133856"/>
            <a:ext cx="10835640" cy="0"/>
          </a:xfrm>
          <a:prstGeom prst="line">
            <a:avLst/>
          </a:prstGeom>
          <a:noFill/>
          <a:ln w="15240">
            <a:solidFill>
              <a:srgbClr val="1E1E1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Shape 3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Shape 31"/>
          <p:cNvSpPr/>
          <p:nvPr/>
        </p:nvSpPr>
        <p:spPr>
          <a:xfrm>
            <a:off x="0" y="6364224"/>
            <a:ext cx="5074920" cy="384048"/>
          </a:xfrm>
          <a:prstGeom prst="parallelogram">
            <a:avLst/>
          </a:prstGeom>
          <a:solidFill>
            <a:srgbClr val="B7D0DC"/>
          </a:solidFill>
          <a:ln w="12700">
            <a:solidFill>
              <a:srgbClr val="B7D0DC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11722608" y="651967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22960" y="1417320"/>
            <a:ext cx="5486400" cy="33832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57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Introduced a lightweight CNN-Transformer with clinical-metadata cross-attention under 6M parameters and 1 GMAC.</a:t>
            </a:r>
            <a:endParaRPr lang="en-US" sz="1570" dirty="0"/>
          </a:p>
          <a:p>
            <a:pPr marL="127000" indent="-127000">
              <a:buSzPct val="100000"/>
              <a:buChar char="•"/>
            </a:pPr>
            <a:r>
              <a:rPr lang="en-US" sz="157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Proposed DEKAN, a dual-backbone attention-fusion model with metadata support and a KAN classifier head.</a:t>
            </a:r>
            <a:endParaRPr lang="en-US" sz="1570" dirty="0"/>
          </a:p>
          <a:p>
            <a:pPr marL="127000" indent="-127000">
              <a:buSzPct val="100000"/>
              <a:buChar char="•"/>
            </a:pPr>
            <a:r>
              <a:rPr lang="en-US" sz="157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Benchmarked both models against five established baselines under one fair training and evaluation protocol.</a:t>
            </a:r>
            <a:endParaRPr lang="en-US" sz="1570" dirty="0"/>
          </a:p>
          <a:p>
            <a:pPr marL="127000" indent="-127000">
              <a:buSzPct val="100000"/>
              <a:buChar char="•"/>
            </a:pPr>
            <a:r>
              <a:rPr lang="en-US" sz="157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Reported both positive findings and negative/inconclusive results transparently.</a:t>
            </a:r>
            <a:endParaRPr lang="en-US" sz="1570" dirty="0"/>
          </a:p>
        </p:txBody>
      </p:sp>
      <p:sp>
        <p:nvSpPr>
          <p:cNvPr id="36" name="Shape 34"/>
          <p:cNvSpPr/>
          <p:nvPr/>
        </p:nvSpPr>
        <p:spPr>
          <a:xfrm>
            <a:off x="6903720" y="1600200"/>
            <a:ext cx="1508760" cy="804672"/>
          </a:xfrm>
          <a:prstGeom prst="roundRect">
            <a:avLst>
              <a:gd name="adj" fmla="val 9091"/>
            </a:avLst>
          </a:prstGeom>
          <a:solidFill>
            <a:srgbClr val="F4F8FA"/>
          </a:solidFill>
          <a:ln w="12700">
            <a:solidFill>
              <a:srgbClr val="B7D0D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Text 35"/>
          <p:cNvSpPr/>
          <p:nvPr/>
        </p:nvSpPr>
        <p:spPr>
          <a:xfrm>
            <a:off x="6976872" y="1709928"/>
            <a:ext cx="1362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2A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0.6081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6976872" y="2167128"/>
            <a:ext cx="1362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E6A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Hybrid BMA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8732520" y="1600200"/>
            <a:ext cx="1508760" cy="804672"/>
          </a:xfrm>
          <a:prstGeom prst="roundRect">
            <a:avLst>
              <a:gd name="adj" fmla="val 9091"/>
            </a:avLst>
          </a:prstGeom>
          <a:solidFill>
            <a:srgbClr val="F4F8FA"/>
          </a:solidFill>
          <a:ln w="12700">
            <a:solidFill>
              <a:srgbClr val="B7D0D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Text 38"/>
          <p:cNvSpPr/>
          <p:nvPr/>
        </p:nvSpPr>
        <p:spPr>
          <a:xfrm>
            <a:off x="8805672" y="1709928"/>
            <a:ext cx="1362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BA4A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Best</a:t>
            </a:r>
            <a:endParaRPr lang="en-US" sz="2000" dirty="0"/>
          </a:p>
        </p:txBody>
      </p:sp>
      <p:sp>
        <p:nvSpPr>
          <p:cNvPr id="41" name="Text 39"/>
          <p:cNvSpPr/>
          <p:nvPr/>
        </p:nvSpPr>
        <p:spPr>
          <a:xfrm>
            <a:off x="8805672" y="2167128"/>
            <a:ext cx="1362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E6A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under 6M params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903720" y="2788920"/>
            <a:ext cx="1508760" cy="804672"/>
          </a:xfrm>
          <a:prstGeom prst="roundRect">
            <a:avLst>
              <a:gd name="adj" fmla="val 9091"/>
            </a:avLst>
          </a:prstGeom>
          <a:solidFill>
            <a:srgbClr val="F4F8FA"/>
          </a:solidFill>
          <a:ln w="12700">
            <a:solidFill>
              <a:srgbClr val="B7D0D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41"/>
          <p:cNvSpPr/>
          <p:nvPr/>
        </p:nvSpPr>
        <p:spPr>
          <a:xfrm>
            <a:off x="6976872" y="2898648"/>
            <a:ext cx="1362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99B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0.6438</a:t>
            </a:r>
            <a:endParaRPr lang="en-US" sz="2000" dirty="0"/>
          </a:p>
        </p:txBody>
      </p:sp>
      <p:sp>
        <p:nvSpPr>
          <p:cNvPr id="44" name="Text 42"/>
          <p:cNvSpPr/>
          <p:nvPr/>
        </p:nvSpPr>
        <p:spPr>
          <a:xfrm>
            <a:off x="6967728" y="33558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E6A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DEKAN BMA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8732520" y="2788920"/>
            <a:ext cx="1508760" cy="804672"/>
          </a:xfrm>
          <a:prstGeom prst="roundRect">
            <a:avLst>
              <a:gd name="adj" fmla="val 9091"/>
            </a:avLst>
          </a:prstGeom>
          <a:solidFill>
            <a:srgbClr val="F4F8FA"/>
          </a:solidFill>
          <a:ln w="12700">
            <a:solidFill>
              <a:srgbClr val="B7D0D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Text 44"/>
          <p:cNvSpPr/>
          <p:nvPr/>
        </p:nvSpPr>
        <p:spPr>
          <a:xfrm>
            <a:off x="8805672" y="2898648"/>
            <a:ext cx="1362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367C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Best</a:t>
            </a:r>
            <a:endParaRPr lang="en-US" sz="2000" dirty="0"/>
          </a:p>
        </p:txBody>
      </p:sp>
      <p:sp>
        <p:nvSpPr>
          <p:cNvPr id="47" name="Text 45"/>
          <p:cNvSpPr/>
          <p:nvPr/>
        </p:nvSpPr>
        <p:spPr>
          <a:xfrm>
            <a:off x="8814816" y="3346703"/>
            <a:ext cx="1362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E6A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among main models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6720840" y="4206240"/>
            <a:ext cx="4160520" cy="822960"/>
          </a:xfrm>
          <a:prstGeom prst="roundRect">
            <a:avLst>
              <a:gd name="adj" fmla="val 7778"/>
            </a:avLst>
          </a:prstGeom>
          <a:solidFill>
            <a:srgbClr val="F4F8FA"/>
          </a:solidFill>
          <a:ln w="12700">
            <a:solidFill>
              <a:srgbClr val="B7D0D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ext 47"/>
          <p:cNvSpPr/>
          <p:nvPr/>
        </p:nvSpPr>
        <p:spPr>
          <a:xfrm>
            <a:off x="6967728" y="440740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Conclusion: Transformer design can improve balanced skin-lesion classification while keeping the model small enough for practical deployment.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371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82828"/>
                </a:solidFill>
              </a:defRPr>
            </a:pPr>
            <a:r>
              <a:t>ISIC 2019 Leaderboard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029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How do our models compare with official ISIC-2019 challenge results?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3581" y="894556"/>
            <a:ext cx="2734018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Images Only Leaderboard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3581" y="3100680"/>
            <a:ext cx="339702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Images + Metadata Leaderboard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27807" y="1271016"/>
            <a:ext cx="2764155" cy="286232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dirty="0"/>
              <a:t>Images Only Track</a:t>
            </a:r>
          </a:p>
          <a:p>
            <a:r>
              <a:rPr dirty="0"/>
              <a:t>Winner: 0.63</a:t>
            </a:r>
            <a:r>
              <a:rPr lang="en-US" dirty="0"/>
              <a:t>6</a:t>
            </a:r>
            <a:endParaRPr dirty="0"/>
          </a:p>
          <a:p>
            <a:r>
              <a:rPr dirty="0"/>
              <a:t>DEKAN: 0.6</a:t>
            </a:r>
            <a:r>
              <a:rPr lang="en-US" dirty="0"/>
              <a:t>302</a:t>
            </a:r>
            <a:endParaRPr dirty="0"/>
          </a:p>
          <a:p>
            <a:r>
              <a:rPr dirty="0"/>
              <a:t>Gain: +0.0078</a:t>
            </a:r>
          </a:p>
          <a:p>
            <a:endParaRPr dirty="0"/>
          </a:p>
          <a:p>
            <a:r>
              <a:rPr b="1" dirty="0"/>
              <a:t>Images + Metadata Track</a:t>
            </a:r>
          </a:p>
          <a:p>
            <a:r>
              <a:rPr dirty="0"/>
              <a:t>Winner: 0.634</a:t>
            </a:r>
          </a:p>
          <a:p>
            <a:r>
              <a:rPr dirty="0"/>
              <a:t>DEKAN: 0.6438</a:t>
            </a:r>
            <a:r>
              <a:rPr lang="en-US" dirty="0"/>
              <a:t> (KAN)</a:t>
            </a:r>
          </a:p>
          <a:p>
            <a:r>
              <a:rPr lang="en-US" dirty="0"/>
              <a:t>                  0.6510 (Linear)</a:t>
            </a:r>
            <a:endParaRPr dirty="0"/>
          </a:p>
          <a:p>
            <a:r>
              <a:rPr dirty="0"/>
              <a:t>Gain: +0.0098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93974" y="5520775"/>
            <a:ext cx="1828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0.6438</a:t>
            </a:r>
          </a:p>
          <a:p>
            <a:r>
              <a:t>DEKAN BMA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51374" y="5520775"/>
            <a:ext cx="1828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+0.0078</a:t>
            </a:r>
          </a:p>
          <a:p>
            <a:r>
              <a:t>Images Only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08774" y="5520775"/>
            <a:ext cx="1828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+0.0098</a:t>
            </a:r>
          </a:p>
          <a:p>
            <a:r>
              <a:t>Metadata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66174" y="5520775"/>
            <a:ext cx="1828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ISIC 2019</a:t>
            </a:r>
          </a:p>
          <a:p>
            <a:r>
              <a:rPr dirty="0"/>
              <a:t>Surpassed</a:t>
            </a:r>
          </a:p>
        </p:txBody>
      </p:sp>
      <p:sp>
        <p:nvSpPr>
          <p:cNvPr id="11" name="Shape 35">
            <a:extLst>
              <a:ext uri="{FF2B5EF4-FFF2-40B4-BE49-F238E27FC236}">
                <a16:creationId xmlns:a16="http://schemas.microsoft.com/office/drawing/2014/main" id="{7332E085-58E8-71D5-8B93-27F98FDBC2E4}"/>
              </a:ext>
            </a:extLst>
          </p:cNvPr>
          <p:cNvSpPr/>
          <p:nvPr/>
        </p:nvSpPr>
        <p:spPr>
          <a:xfrm>
            <a:off x="0" y="6552861"/>
            <a:ext cx="12191695" cy="384048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>
                <a:alpha val="0"/>
              </a:srgbClr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dirty="0"/>
          </a:p>
        </p:txBody>
      </p:sp>
      <p:sp>
        <p:nvSpPr>
          <p:cNvPr id="12" name="Shape 36">
            <a:extLst>
              <a:ext uri="{FF2B5EF4-FFF2-40B4-BE49-F238E27FC236}">
                <a16:creationId xmlns:a16="http://schemas.microsoft.com/office/drawing/2014/main" id="{F9104F08-49D3-7D12-B5B6-39335DC869EB}"/>
              </a:ext>
            </a:extLst>
          </p:cNvPr>
          <p:cNvSpPr/>
          <p:nvPr/>
        </p:nvSpPr>
        <p:spPr>
          <a:xfrm>
            <a:off x="0" y="6443133"/>
            <a:ext cx="5074920" cy="384048"/>
          </a:xfrm>
          <a:prstGeom prst="parallelogram">
            <a:avLst/>
          </a:prstGeom>
          <a:solidFill>
            <a:srgbClr val="B7D0DC"/>
          </a:solidFill>
          <a:ln w="12700">
            <a:solidFill>
              <a:srgbClr val="B7D0DC">
                <a:alpha val="0"/>
              </a:srgbClr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13" name="Text 37">
            <a:extLst>
              <a:ext uri="{FF2B5EF4-FFF2-40B4-BE49-F238E27FC236}">
                <a16:creationId xmlns:a16="http://schemas.microsoft.com/office/drawing/2014/main" id="{81D4DB40-FDF8-B495-1312-739829720167}"/>
              </a:ext>
            </a:extLst>
          </p:cNvPr>
          <p:cNvSpPr/>
          <p:nvPr/>
        </p:nvSpPr>
        <p:spPr>
          <a:xfrm>
            <a:off x="11722608" y="6598581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</a:t>
            </a:r>
            <a:endParaRPr lang="en-US" sz="11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3F6B9AE-8126-B41F-A445-46FF5F4EA87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01" t="441" r="1253" b="19690"/>
          <a:stretch>
            <a:fillRect/>
          </a:stretch>
        </p:blipFill>
        <p:spPr>
          <a:xfrm>
            <a:off x="528129" y="1276096"/>
            <a:ext cx="3998151" cy="159342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C928C66-1888-6532-307E-79DB183D27B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536" b="14566"/>
          <a:stretch>
            <a:fillRect/>
          </a:stretch>
        </p:blipFill>
        <p:spPr>
          <a:xfrm>
            <a:off x="514593" y="3456607"/>
            <a:ext cx="4011687" cy="1847333"/>
          </a:xfrm>
          <a:prstGeom prst="rect">
            <a:avLst/>
          </a:prstGeom>
        </p:spPr>
      </p:pic>
      <p:sp>
        <p:nvSpPr>
          <p:cNvPr id="19" name="Shape 29">
            <a:extLst>
              <a:ext uri="{FF2B5EF4-FFF2-40B4-BE49-F238E27FC236}">
                <a16:creationId xmlns:a16="http://schemas.microsoft.com/office/drawing/2014/main" id="{0C3C9196-90BC-2A49-4443-AADCB0592730}"/>
              </a:ext>
            </a:extLst>
          </p:cNvPr>
          <p:cNvSpPr/>
          <p:nvPr/>
        </p:nvSpPr>
        <p:spPr>
          <a:xfrm>
            <a:off x="514593" y="711677"/>
            <a:ext cx="10835640" cy="0"/>
          </a:xfrm>
          <a:prstGeom prst="line">
            <a:avLst/>
          </a:prstGeom>
          <a:noFill/>
          <a:ln w="15240">
            <a:solidFill>
              <a:srgbClr val="1E1E1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0">
            <a:extLst>
              <a:ext uri="{FF2B5EF4-FFF2-40B4-BE49-F238E27FC236}">
                <a16:creationId xmlns:a16="http://schemas.microsoft.com/office/drawing/2014/main" id="{805D36E8-9DAE-0F4C-3106-4D358C9E3E82}"/>
              </a:ext>
            </a:extLst>
          </p:cNvPr>
          <p:cNvSpPr/>
          <p:nvPr/>
        </p:nvSpPr>
        <p:spPr>
          <a:xfrm>
            <a:off x="7543800" y="45720"/>
            <a:ext cx="1097280" cy="36576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hape 1">
            <a:extLst>
              <a:ext uri="{FF2B5EF4-FFF2-40B4-BE49-F238E27FC236}">
                <a16:creationId xmlns:a16="http://schemas.microsoft.com/office/drawing/2014/main" id="{8D1FF0CE-3049-C1E8-66E3-2D76452B634B}"/>
              </a:ext>
            </a:extLst>
          </p:cNvPr>
          <p:cNvSpPr/>
          <p:nvPr/>
        </p:nvSpPr>
        <p:spPr>
          <a:xfrm>
            <a:off x="8641080" y="411480"/>
            <a:ext cx="1143000" cy="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hape 2">
            <a:extLst>
              <a:ext uri="{FF2B5EF4-FFF2-40B4-BE49-F238E27FC236}">
                <a16:creationId xmlns:a16="http://schemas.microsoft.com/office/drawing/2014/main" id="{6BBF143D-BB69-5E48-6038-12902189F381}"/>
              </a:ext>
            </a:extLst>
          </p:cNvPr>
          <p:cNvSpPr/>
          <p:nvPr/>
        </p:nvSpPr>
        <p:spPr>
          <a:xfrm>
            <a:off x="9784080" y="91440"/>
            <a:ext cx="1051560" cy="54864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3">
            <a:extLst>
              <a:ext uri="{FF2B5EF4-FFF2-40B4-BE49-F238E27FC236}">
                <a16:creationId xmlns:a16="http://schemas.microsoft.com/office/drawing/2014/main" id="{AD909768-5DBC-BEB0-A0FD-E715EBC90488}"/>
              </a:ext>
            </a:extLst>
          </p:cNvPr>
          <p:cNvSpPr/>
          <p:nvPr/>
        </p:nvSpPr>
        <p:spPr>
          <a:xfrm>
            <a:off x="10835640" y="640080"/>
            <a:ext cx="1005840" cy="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Shape 4">
            <a:extLst>
              <a:ext uri="{FF2B5EF4-FFF2-40B4-BE49-F238E27FC236}">
                <a16:creationId xmlns:a16="http://schemas.microsoft.com/office/drawing/2014/main" id="{D207C276-176C-7BD6-7967-6EEBDF5773F0}"/>
              </a:ext>
            </a:extLst>
          </p:cNvPr>
          <p:cNvSpPr/>
          <p:nvPr/>
        </p:nvSpPr>
        <p:spPr>
          <a:xfrm>
            <a:off x="8641080" y="411480"/>
            <a:ext cx="0" cy="82296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Shape 5">
            <a:extLst>
              <a:ext uri="{FF2B5EF4-FFF2-40B4-BE49-F238E27FC236}">
                <a16:creationId xmlns:a16="http://schemas.microsoft.com/office/drawing/2014/main" id="{CAEF44CD-51F0-0CA4-7F16-9BD7EB01DC52}"/>
              </a:ext>
            </a:extLst>
          </p:cNvPr>
          <p:cNvSpPr/>
          <p:nvPr/>
        </p:nvSpPr>
        <p:spPr>
          <a:xfrm>
            <a:off x="8183880" y="1234440"/>
            <a:ext cx="1097280" cy="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Shape 6">
            <a:extLst>
              <a:ext uri="{FF2B5EF4-FFF2-40B4-BE49-F238E27FC236}">
                <a16:creationId xmlns:a16="http://schemas.microsoft.com/office/drawing/2014/main" id="{8DDA606A-5928-7587-DC8D-C59CED314851}"/>
              </a:ext>
            </a:extLst>
          </p:cNvPr>
          <p:cNvSpPr/>
          <p:nvPr/>
        </p:nvSpPr>
        <p:spPr>
          <a:xfrm>
            <a:off x="9281160" y="1005840"/>
            <a:ext cx="1005840" cy="50292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Shape 7">
            <a:extLst>
              <a:ext uri="{FF2B5EF4-FFF2-40B4-BE49-F238E27FC236}">
                <a16:creationId xmlns:a16="http://schemas.microsoft.com/office/drawing/2014/main" id="{4D8E6785-20C7-6935-E6A4-224172502B94}"/>
              </a:ext>
            </a:extLst>
          </p:cNvPr>
          <p:cNvSpPr/>
          <p:nvPr/>
        </p:nvSpPr>
        <p:spPr>
          <a:xfrm>
            <a:off x="10287000" y="1508760"/>
            <a:ext cx="1188720" cy="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Shape 12">
            <a:extLst>
              <a:ext uri="{FF2B5EF4-FFF2-40B4-BE49-F238E27FC236}">
                <a16:creationId xmlns:a16="http://schemas.microsoft.com/office/drawing/2014/main" id="{D23398A7-46CC-732D-E3E5-5BFBB93D3DB5}"/>
              </a:ext>
            </a:extLst>
          </p:cNvPr>
          <p:cNvSpPr/>
          <p:nvPr/>
        </p:nvSpPr>
        <p:spPr>
          <a:xfrm>
            <a:off x="10835640" y="640080"/>
            <a:ext cx="640080" cy="50292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Shape 14">
            <a:extLst>
              <a:ext uri="{FF2B5EF4-FFF2-40B4-BE49-F238E27FC236}">
                <a16:creationId xmlns:a16="http://schemas.microsoft.com/office/drawing/2014/main" id="{D3344EFB-408E-5799-BF98-B4FDCFF7866D}"/>
              </a:ext>
            </a:extLst>
          </p:cNvPr>
          <p:cNvSpPr/>
          <p:nvPr/>
        </p:nvSpPr>
        <p:spPr>
          <a:xfrm>
            <a:off x="9784080" y="91440"/>
            <a:ext cx="0" cy="91440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Shape 15">
            <a:extLst>
              <a:ext uri="{FF2B5EF4-FFF2-40B4-BE49-F238E27FC236}">
                <a16:creationId xmlns:a16="http://schemas.microsoft.com/office/drawing/2014/main" id="{36E0753A-BD25-D476-4C0E-6579EA2B9E71}"/>
              </a:ext>
            </a:extLst>
          </p:cNvPr>
          <p:cNvSpPr/>
          <p:nvPr/>
        </p:nvSpPr>
        <p:spPr>
          <a:xfrm>
            <a:off x="7507224" y="9144"/>
            <a:ext cx="73152" cy="73152"/>
          </a:xfrm>
          <a:prstGeom prst="ellipse">
            <a:avLst/>
          </a:prstGeom>
          <a:solidFill>
            <a:srgbClr val="D7DDE2">
              <a:alpha val="80000"/>
            </a:srgbClr>
          </a:solidFill>
          <a:ln w="12700">
            <a:solidFill>
              <a:srgbClr val="D7DDE2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Shape 16">
            <a:extLst>
              <a:ext uri="{FF2B5EF4-FFF2-40B4-BE49-F238E27FC236}">
                <a16:creationId xmlns:a16="http://schemas.microsoft.com/office/drawing/2014/main" id="{60E4230B-EAB9-834E-AAE6-E439F2B75F85}"/>
              </a:ext>
            </a:extLst>
          </p:cNvPr>
          <p:cNvSpPr/>
          <p:nvPr/>
        </p:nvSpPr>
        <p:spPr>
          <a:xfrm>
            <a:off x="8604504" y="374904"/>
            <a:ext cx="73152" cy="73152"/>
          </a:xfrm>
          <a:prstGeom prst="ellipse">
            <a:avLst/>
          </a:prstGeom>
          <a:solidFill>
            <a:srgbClr val="D7DDE2">
              <a:alpha val="80000"/>
            </a:srgbClr>
          </a:solidFill>
          <a:ln w="12700">
            <a:solidFill>
              <a:srgbClr val="D7DDE2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Shape 17">
            <a:extLst>
              <a:ext uri="{FF2B5EF4-FFF2-40B4-BE49-F238E27FC236}">
                <a16:creationId xmlns:a16="http://schemas.microsoft.com/office/drawing/2014/main" id="{2F6A00DA-2F42-60F3-85B8-8E096EAFDC50}"/>
              </a:ext>
            </a:extLst>
          </p:cNvPr>
          <p:cNvSpPr/>
          <p:nvPr/>
        </p:nvSpPr>
        <p:spPr>
          <a:xfrm>
            <a:off x="9747504" y="54864"/>
            <a:ext cx="73152" cy="73152"/>
          </a:xfrm>
          <a:prstGeom prst="ellipse">
            <a:avLst/>
          </a:prstGeom>
          <a:solidFill>
            <a:srgbClr val="D7DDE2">
              <a:alpha val="80000"/>
            </a:srgbClr>
          </a:solidFill>
          <a:ln w="12700">
            <a:solidFill>
              <a:srgbClr val="D7DDE2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Shape 18">
            <a:extLst>
              <a:ext uri="{FF2B5EF4-FFF2-40B4-BE49-F238E27FC236}">
                <a16:creationId xmlns:a16="http://schemas.microsoft.com/office/drawing/2014/main" id="{266CC5AA-B1C7-9988-AB38-E2750CB59B18}"/>
              </a:ext>
            </a:extLst>
          </p:cNvPr>
          <p:cNvSpPr/>
          <p:nvPr/>
        </p:nvSpPr>
        <p:spPr>
          <a:xfrm>
            <a:off x="10799064" y="603504"/>
            <a:ext cx="73152" cy="73152"/>
          </a:xfrm>
          <a:prstGeom prst="ellipse">
            <a:avLst/>
          </a:prstGeom>
          <a:solidFill>
            <a:srgbClr val="D7DDE2">
              <a:alpha val="80000"/>
            </a:srgbClr>
          </a:solidFill>
          <a:ln w="12700">
            <a:solidFill>
              <a:srgbClr val="D7DDE2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Shape 19">
            <a:extLst>
              <a:ext uri="{FF2B5EF4-FFF2-40B4-BE49-F238E27FC236}">
                <a16:creationId xmlns:a16="http://schemas.microsoft.com/office/drawing/2014/main" id="{FD2E17C3-6156-CA3D-55EE-66D4F002C8B2}"/>
              </a:ext>
            </a:extLst>
          </p:cNvPr>
          <p:cNvSpPr/>
          <p:nvPr/>
        </p:nvSpPr>
        <p:spPr>
          <a:xfrm>
            <a:off x="11804904" y="146304"/>
            <a:ext cx="73152" cy="73152"/>
          </a:xfrm>
          <a:prstGeom prst="ellipse">
            <a:avLst/>
          </a:prstGeom>
          <a:solidFill>
            <a:srgbClr val="D7DDE2">
              <a:alpha val="80000"/>
            </a:srgbClr>
          </a:solidFill>
          <a:ln w="12700">
            <a:solidFill>
              <a:srgbClr val="D7DDE2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Shape 20">
            <a:extLst>
              <a:ext uri="{FF2B5EF4-FFF2-40B4-BE49-F238E27FC236}">
                <a16:creationId xmlns:a16="http://schemas.microsoft.com/office/drawing/2014/main" id="{41AE2E2B-6F63-D422-63A9-1F3800D999A7}"/>
              </a:ext>
            </a:extLst>
          </p:cNvPr>
          <p:cNvSpPr/>
          <p:nvPr/>
        </p:nvSpPr>
        <p:spPr>
          <a:xfrm>
            <a:off x="8147304" y="1197864"/>
            <a:ext cx="73152" cy="73152"/>
          </a:xfrm>
          <a:prstGeom prst="ellipse">
            <a:avLst/>
          </a:prstGeom>
          <a:solidFill>
            <a:srgbClr val="D7DDE2">
              <a:alpha val="80000"/>
            </a:srgbClr>
          </a:solidFill>
          <a:ln w="12700">
            <a:solidFill>
              <a:srgbClr val="D7DDE2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Shape 21">
            <a:extLst>
              <a:ext uri="{FF2B5EF4-FFF2-40B4-BE49-F238E27FC236}">
                <a16:creationId xmlns:a16="http://schemas.microsoft.com/office/drawing/2014/main" id="{636CFC3E-141D-DA71-D1D6-84B4A726927D}"/>
              </a:ext>
            </a:extLst>
          </p:cNvPr>
          <p:cNvSpPr/>
          <p:nvPr/>
        </p:nvSpPr>
        <p:spPr>
          <a:xfrm>
            <a:off x="9244584" y="969264"/>
            <a:ext cx="73152" cy="73152"/>
          </a:xfrm>
          <a:prstGeom prst="ellipse">
            <a:avLst/>
          </a:prstGeom>
          <a:solidFill>
            <a:srgbClr val="D7DDE2">
              <a:alpha val="80000"/>
            </a:srgbClr>
          </a:solidFill>
          <a:ln w="12700">
            <a:solidFill>
              <a:srgbClr val="D7DDE2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Shape 22">
            <a:extLst>
              <a:ext uri="{FF2B5EF4-FFF2-40B4-BE49-F238E27FC236}">
                <a16:creationId xmlns:a16="http://schemas.microsoft.com/office/drawing/2014/main" id="{C6DAF71E-6EA1-7F3A-7AB0-6B6D77CB9FA2}"/>
              </a:ext>
            </a:extLst>
          </p:cNvPr>
          <p:cNvSpPr/>
          <p:nvPr/>
        </p:nvSpPr>
        <p:spPr>
          <a:xfrm>
            <a:off x="10250424" y="1472184"/>
            <a:ext cx="73152" cy="73152"/>
          </a:xfrm>
          <a:prstGeom prst="ellipse">
            <a:avLst/>
          </a:prstGeom>
          <a:solidFill>
            <a:srgbClr val="D7DDE2">
              <a:alpha val="80000"/>
            </a:srgbClr>
          </a:solidFill>
          <a:ln w="12700">
            <a:solidFill>
              <a:srgbClr val="D7DDE2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Shape 23">
            <a:extLst>
              <a:ext uri="{FF2B5EF4-FFF2-40B4-BE49-F238E27FC236}">
                <a16:creationId xmlns:a16="http://schemas.microsoft.com/office/drawing/2014/main" id="{6C28B0FD-045A-DD20-BE03-FF569E95BC5A}"/>
              </a:ext>
            </a:extLst>
          </p:cNvPr>
          <p:cNvSpPr/>
          <p:nvPr/>
        </p:nvSpPr>
        <p:spPr>
          <a:xfrm>
            <a:off x="11439144" y="1106424"/>
            <a:ext cx="73152" cy="73152"/>
          </a:xfrm>
          <a:prstGeom prst="ellipse">
            <a:avLst/>
          </a:prstGeom>
          <a:solidFill>
            <a:srgbClr val="D7DDE2">
              <a:alpha val="80000"/>
            </a:srgbClr>
          </a:solidFill>
          <a:ln w="12700">
            <a:solidFill>
              <a:srgbClr val="D7DDE2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Shape 36">
            <a:extLst>
              <a:ext uri="{FF2B5EF4-FFF2-40B4-BE49-F238E27FC236}">
                <a16:creationId xmlns:a16="http://schemas.microsoft.com/office/drawing/2014/main" id="{44395F42-8DCC-8F4B-8637-7A46AAFBDBD5}"/>
              </a:ext>
            </a:extLst>
          </p:cNvPr>
          <p:cNvSpPr/>
          <p:nvPr/>
        </p:nvSpPr>
        <p:spPr>
          <a:xfrm>
            <a:off x="7443265" y="1088136"/>
            <a:ext cx="4558096" cy="3998067"/>
          </a:xfrm>
          <a:prstGeom prst="roundRect">
            <a:avLst>
              <a:gd name="adj" fmla="val 9756"/>
            </a:avLst>
          </a:prstGeom>
          <a:solidFill>
            <a:srgbClr val="F4F8FA"/>
          </a:solidFill>
          <a:ln w="12700">
            <a:solidFill>
              <a:srgbClr val="B7D0DC"/>
            </a:solidFill>
            <a:prstDash val="solid"/>
          </a:ln>
        </p:spPr>
        <p:txBody>
          <a:bodyPr/>
          <a:lstStyle/>
          <a:p>
            <a:endParaRPr sz="1200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9BB3D0E-011A-6CF7-5559-4927C97FC1D2}"/>
              </a:ext>
            </a:extLst>
          </p:cNvPr>
          <p:cNvSpPr txBox="1"/>
          <p:nvPr/>
        </p:nvSpPr>
        <p:spPr>
          <a:xfrm>
            <a:off x="7719702" y="1143829"/>
            <a:ext cx="3937360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1500" b="1" i="0" dirty="0">
                <a:solidFill>
                  <a:srgbClr val="111111"/>
                </a:solidFill>
                <a:effectLst/>
                <a:latin typeface="Roboto" panose="02000000000000000000" pitchFamily="2" charset="0"/>
              </a:rPr>
              <a:t>Comparison of Leading Deep Learning Architectures on Skin Lesion Classification Using the ISIC 2019 Dataset</a:t>
            </a:r>
          </a:p>
        </p:txBody>
      </p:sp>
      <p:pic>
        <p:nvPicPr>
          <p:cNvPr id="63" name="Picture 62">
            <a:extLst>
              <a:ext uri="{FF2B5EF4-FFF2-40B4-BE49-F238E27FC236}">
                <a16:creationId xmlns:a16="http://schemas.microsoft.com/office/drawing/2014/main" id="{B7023253-5784-8FC9-A2F9-EABA6D091FE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974" r="1" b="3575"/>
          <a:stretch>
            <a:fillRect/>
          </a:stretch>
        </p:blipFill>
        <p:spPr>
          <a:xfrm>
            <a:off x="8195372" y="1993391"/>
            <a:ext cx="3154861" cy="2793869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43800" y="45720"/>
            <a:ext cx="1097280" cy="36576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8641080" y="411480"/>
            <a:ext cx="1143000" cy="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9784080" y="91440"/>
            <a:ext cx="1051560" cy="54864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835640" y="640080"/>
            <a:ext cx="1005840" cy="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8641080" y="411480"/>
            <a:ext cx="0" cy="82296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8183880" y="1234440"/>
            <a:ext cx="1097280" cy="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9281160" y="1005840"/>
            <a:ext cx="1005840" cy="50292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10287000" y="1508760"/>
            <a:ext cx="1188720" cy="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8183880" y="1234440"/>
            <a:ext cx="594360" cy="91440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8778240" y="2148840"/>
            <a:ext cx="1051560" cy="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9829800" y="1874520"/>
            <a:ext cx="1234440" cy="45720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9281160" y="1005840"/>
            <a:ext cx="548640" cy="86868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10835640" y="640080"/>
            <a:ext cx="640080" cy="50292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11475720" y="1143000"/>
            <a:ext cx="0" cy="118872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9784080" y="91440"/>
            <a:ext cx="0" cy="914400"/>
          </a:xfrm>
          <a:prstGeom prst="line">
            <a:avLst/>
          </a:prstGeom>
          <a:noFill/>
          <a:ln w="10160">
            <a:solidFill>
              <a:srgbClr val="D7DDE2">
                <a:alpha val="6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7507224" y="9144"/>
            <a:ext cx="73152" cy="73152"/>
          </a:xfrm>
          <a:prstGeom prst="ellipse">
            <a:avLst/>
          </a:prstGeom>
          <a:solidFill>
            <a:srgbClr val="D7DDE2">
              <a:alpha val="80000"/>
            </a:srgbClr>
          </a:solidFill>
          <a:ln w="12700">
            <a:solidFill>
              <a:srgbClr val="D7DDE2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8604504" y="374904"/>
            <a:ext cx="73152" cy="73152"/>
          </a:xfrm>
          <a:prstGeom prst="ellipse">
            <a:avLst/>
          </a:prstGeom>
          <a:solidFill>
            <a:srgbClr val="D7DDE2">
              <a:alpha val="80000"/>
            </a:srgbClr>
          </a:solidFill>
          <a:ln w="12700">
            <a:solidFill>
              <a:srgbClr val="D7DDE2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9747504" y="54864"/>
            <a:ext cx="73152" cy="73152"/>
          </a:xfrm>
          <a:prstGeom prst="ellipse">
            <a:avLst/>
          </a:prstGeom>
          <a:solidFill>
            <a:srgbClr val="D7DDE2">
              <a:alpha val="80000"/>
            </a:srgbClr>
          </a:solidFill>
          <a:ln w="12700">
            <a:solidFill>
              <a:srgbClr val="D7DDE2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10799064" y="603504"/>
            <a:ext cx="73152" cy="73152"/>
          </a:xfrm>
          <a:prstGeom prst="ellipse">
            <a:avLst/>
          </a:prstGeom>
          <a:solidFill>
            <a:srgbClr val="D7DDE2">
              <a:alpha val="80000"/>
            </a:srgbClr>
          </a:solidFill>
          <a:ln w="12700">
            <a:solidFill>
              <a:srgbClr val="D7DDE2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11804904" y="146304"/>
            <a:ext cx="73152" cy="73152"/>
          </a:xfrm>
          <a:prstGeom prst="ellipse">
            <a:avLst/>
          </a:prstGeom>
          <a:solidFill>
            <a:srgbClr val="D7DDE2">
              <a:alpha val="80000"/>
            </a:srgbClr>
          </a:solidFill>
          <a:ln w="12700">
            <a:solidFill>
              <a:srgbClr val="D7DDE2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8147304" y="1197864"/>
            <a:ext cx="73152" cy="73152"/>
          </a:xfrm>
          <a:prstGeom prst="ellipse">
            <a:avLst/>
          </a:prstGeom>
          <a:solidFill>
            <a:srgbClr val="D7DDE2">
              <a:alpha val="80000"/>
            </a:srgbClr>
          </a:solidFill>
          <a:ln w="12700">
            <a:solidFill>
              <a:srgbClr val="D7DDE2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9244584" y="969264"/>
            <a:ext cx="73152" cy="73152"/>
          </a:xfrm>
          <a:prstGeom prst="ellipse">
            <a:avLst/>
          </a:prstGeom>
          <a:solidFill>
            <a:srgbClr val="D7DDE2">
              <a:alpha val="80000"/>
            </a:srgbClr>
          </a:solidFill>
          <a:ln w="12700">
            <a:solidFill>
              <a:srgbClr val="D7DDE2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10250424" y="1472184"/>
            <a:ext cx="73152" cy="73152"/>
          </a:xfrm>
          <a:prstGeom prst="ellipse">
            <a:avLst/>
          </a:prstGeom>
          <a:solidFill>
            <a:srgbClr val="D7DDE2">
              <a:alpha val="80000"/>
            </a:srgbClr>
          </a:solidFill>
          <a:ln w="12700">
            <a:solidFill>
              <a:srgbClr val="D7DDE2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11439144" y="1106424"/>
            <a:ext cx="73152" cy="73152"/>
          </a:xfrm>
          <a:prstGeom prst="ellipse">
            <a:avLst/>
          </a:prstGeom>
          <a:solidFill>
            <a:srgbClr val="D7DDE2">
              <a:alpha val="80000"/>
            </a:srgbClr>
          </a:solidFill>
          <a:ln w="12700">
            <a:solidFill>
              <a:srgbClr val="D7DDE2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8741664" y="2112264"/>
            <a:ext cx="73152" cy="73152"/>
          </a:xfrm>
          <a:prstGeom prst="ellipse">
            <a:avLst/>
          </a:prstGeom>
          <a:solidFill>
            <a:srgbClr val="D7DDE2">
              <a:alpha val="80000"/>
            </a:srgbClr>
          </a:solidFill>
          <a:ln w="12700">
            <a:solidFill>
              <a:srgbClr val="D7DDE2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9793224" y="1837944"/>
            <a:ext cx="73152" cy="73152"/>
          </a:xfrm>
          <a:prstGeom prst="ellipse">
            <a:avLst/>
          </a:prstGeom>
          <a:solidFill>
            <a:srgbClr val="D7DDE2">
              <a:alpha val="80000"/>
            </a:srgbClr>
          </a:solidFill>
          <a:ln w="12700">
            <a:solidFill>
              <a:srgbClr val="D7DDE2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11027664" y="2295144"/>
            <a:ext cx="73152" cy="73152"/>
          </a:xfrm>
          <a:prstGeom prst="ellipse">
            <a:avLst/>
          </a:prstGeom>
          <a:solidFill>
            <a:srgbClr val="D7DDE2">
              <a:alpha val="80000"/>
            </a:srgbClr>
          </a:solidFill>
          <a:ln w="12700">
            <a:solidFill>
              <a:srgbClr val="D7DDE2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Shape 27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222629"/>
          </a:solidFill>
          <a:ln w="12700">
            <a:solidFill>
              <a:srgbClr val="222629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530352" y="192024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Future Work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594360" y="905256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E6A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steps for strengthening the study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60120" y="1508760"/>
            <a:ext cx="5669280" cy="2743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70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Repeat experiments across at least three seeds and report mean ± standard deviation.</a:t>
            </a:r>
            <a:endParaRPr lang="en-US" sz="1700" dirty="0"/>
          </a:p>
          <a:p>
            <a:pPr marL="127000" indent="-127000">
              <a:buSzPct val="100000"/>
              <a:buChar char="•"/>
            </a:pPr>
            <a:r>
              <a:rPr lang="en-US" sz="170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Complete the single-backbone DEKAN ablations (DenseNet-121 alone and EfficientNet-B0 alone) to quantify each backbone's contribution.</a:t>
            </a:r>
            <a:endParaRPr lang="en-US" sz="1700" dirty="0"/>
          </a:p>
          <a:p>
            <a:pPr marL="127000" indent="-127000">
              <a:buSzPct val="100000"/>
              <a:buChar char="•"/>
            </a:pPr>
            <a:r>
              <a:rPr lang="en-US" sz="170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Evaluate on an external dataset for stronger generalisation evidence.</a:t>
            </a:r>
            <a:endParaRPr lang="en-US" sz="1700" dirty="0"/>
          </a:p>
          <a:p>
            <a:pPr marL="127000" indent="-127000">
              <a:buSzPct val="100000"/>
              <a:buChar char="•"/>
            </a:pPr>
            <a:r>
              <a:rPr lang="en-US" sz="170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Grad-CAM and attention rollout to verify clinically meaningful focus regions.</a:t>
            </a:r>
            <a:endParaRPr lang="en-US" sz="1700" dirty="0"/>
          </a:p>
        </p:txBody>
      </p:sp>
      <p:sp>
        <p:nvSpPr>
          <p:cNvPr id="33" name="Shape 31"/>
          <p:cNvSpPr/>
          <p:nvPr/>
        </p:nvSpPr>
        <p:spPr>
          <a:xfrm>
            <a:off x="7543800" y="1554480"/>
            <a:ext cx="3108960" cy="1920240"/>
          </a:xfrm>
          <a:prstGeom prst="roundRect">
            <a:avLst>
              <a:gd name="adj" fmla="val 5714"/>
            </a:avLst>
          </a:prstGeom>
          <a:solidFill>
            <a:srgbClr val="F4F8FA"/>
          </a:solidFill>
          <a:ln w="17780">
            <a:solidFill>
              <a:srgbClr val="B7D0D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7818120" y="18745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D2A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Thank You</a:t>
            </a:r>
            <a:endParaRPr lang="en-US" sz="3000" dirty="0"/>
          </a:p>
        </p:txBody>
      </p:sp>
      <p:sp>
        <p:nvSpPr>
          <p:cNvPr id="35" name="Text 33"/>
          <p:cNvSpPr/>
          <p:nvPr/>
        </p:nvSpPr>
        <p:spPr>
          <a:xfrm>
            <a:off x="7818120" y="24231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E6A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Questions?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960120" y="489204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E6A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Hybrid CNN-Transformer Networks with Clinical Metadata for Skin Lesion Classification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Shape 36"/>
          <p:cNvSpPr/>
          <p:nvPr/>
        </p:nvSpPr>
        <p:spPr>
          <a:xfrm>
            <a:off x="0" y="6364224"/>
            <a:ext cx="5074920" cy="384048"/>
          </a:xfrm>
          <a:prstGeom prst="parallelogram">
            <a:avLst/>
          </a:prstGeom>
          <a:solidFill>
            <a:srgbClr val="B7D0DC"/>
          </a:solidFill>
          <a:ln w="12700">
            <a:solidFill>
              <a:srgbClr val="B7D0DC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37"/>
          <p:cNvSpPr/>
          <p:nvPr/>
        </p:nvSpPr>
        <p:spPr>
          <a:xfrm>
            <a:off x="11722608" y="651967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1693</Words>
  <Application>Microsoft Office PowerPoint</Application>
  <PresentationFormat>Widescreen</PresentationFormat>
  <Paragraphs>467</Paragraphs>
  <Slides>20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Aptos</vt:lpstr>
      <vt:lpstr>Aptos Display</vt:lpstr>
      <vt:lpstr>Arial</vt:lpstr>
      <vt:lpstr>Roboto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Brac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Hybrid CNN-Transformer Networks with Clinical Metadata for Skin Lesion Classification</dc:title>
  <dc:subject>Thesis defense slides</dc:subject>
  <dc:creator>OpenAI</dc:creator>
  <cp:lastModifiedBy>mahabuba munia</cp:lastModifiedBy>
  <cp:revision>3</cp:revision>
  <dcterms:created xsi:type="dcterms:W3CDTF">2026-06-10T05:38:47Z</dcterms:created>
  <dcterms:modified xsi:type="dcterms:W3CDTF">2026-06-10T17:11:16Z</dcterms:modified>
</cp:coreProperties>
</file>